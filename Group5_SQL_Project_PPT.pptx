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80" r:id="rId6"/>
    <p:sldId id="279" r:id="rId7"/>
    <p:sldId id="275" r:id="rId8"/>
    <p:sldId id="281" r:id="rId9"/>
    <p:sldId id="282" r:id="rId10"/>
    <p:sldId id="283" r:id="rId11"/>
    <p:sldId id="276" r:id="rId12"/>
    <p:sldId id="289" r:id="rId13"/>
    <p:sldId id="292" r:id="rId14"/>
    <p:sldId id="290" r:id="rId15"/>
    <p:sldId id="297" r:id="rId16"/>
    <p:sldId id="291" r:id="rId17"/>
    <p:sldId id="293" r:id="rId18"/>
    <p:sldId id="284" r:id="rId19"/>
    <p:sldId id="299" r:id="rId20"/>
    <p:sldId id="288" r:id="rId21"/>
    <p:sldId id="300" r:id="rId22"/>
    <p:sldId id="295" r:id="rId23"/>
    <p:sldId id="301" r:id="rId24"/>
    <p:sldId id="302" r:id="rId25"/>
    <p:sldId id="296" r:id="rId26"/>
    <p:sldId id="273" r:id="rId27"/>
    <p:sldId id="274" r:id="rId28"/>
  </p:sldIdLst>
  <p:sldSz cx="18288000" cy="10287000"/>
  <p:notesSz cx="6858000" cy="9144000"/>
  <p:embeddedFontLst>
    <p:embeddedFont>
      <p:font typeface="Bogle" panose="020B0604020202020204" charset="0"/>
      <p:regular r:id="rId29"/>
      <p:bold r:id="rId30"/>
      <p:italic r:id="rId31"/>
      <p:bold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Montserrat Bold" panose="00000800000000000000" charset="0"/>
      <p:regular r:id="rId37"/>
      <p:bold r:id="rId38"/>
    </p:embeddedFont>
    <p:embeddedFont>
      <p:font typeface="Segoe UI Emoji" panose="020B0502040204020203" pitchFamily="3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 autoAdjust="0"/>
    <p:restoredTop sz="94610" autoAdjust="0"/>
  </p:normalViewPr>
  <p:slideViewPr>
    <p:cSldViewPr>
      <p:cViewPr varScale="1">
        <p:scale>
          <a:sx n="39" d="100"/>
          <a:sy n="39" d="100"/>
        </p:scale>
        <p:origin x="102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041016" y="2797542"/>
            <a:ext cx="13444109" cy="3180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80"/>
              </a:lnSpc>
            </a:pPr>
            <a:r>
              <a:rPr lang="en-US" sz="6000" b="1" spc="22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Comprehensive Analysis of Bollywood movie dataset</a:t>
            </a:r>
          </a:p>
          <a:p>
            <a:pPr algn="ctr">
              <a:lnSpc>
                <a:spcPts val="6180"/>
              </a:lnSpc>
            </a:pPr>
            <a:endParaRPr lang="en-US" sz="6000" b="1" spc="22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6180"/>
              </a:lnSpc>
            </a:pPr>
            <a:endParaRPr lang="en-US" sz="6000" b="1" spc="22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77504" y="6735675"/>
            <a:ext cx="14732991" cy="272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417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Group Members: Shabana Shariff, Prashasti Srivastava, Pradeep V, Sharmila S, Uttam Nandy</a:t>
            </a:r>
          </a:p>
          <a:p>
            <a:pPr algn="ctr">
              <a:lnSpc>
                <a:spcPts val="4275"/>
              </a:lnSpc>
            </a:pPr>
            <a:r>
              <a:rPr lang="en-US" sz="3417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Course: SQL </a:t>
            </a:r>
          </a:p>
          <a:p>
            <a:pPr algn="ctr">
              <a:lnSpc>
                <a:spcPts val="4275"/>
              </a:lnSpc>
            </a:pPr>
            <a:r>
              <a:rPr lang="en-US" sz="3417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Date: April 2025</a:t>
            </a:r>
          </a:p>
          <a:p>
            <a:pPr algn="ctr">
              <a:lnSpc>
                <a:spcPts val="4275"/>
              </a:lnSpc>
            </a:pPr>
            <a:endParaRPr lang="en-US" sz="341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-304800" y="478462"/>
            <a:ext cx="11002403" cy="90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algn="ctr">
              <a:lnSpc>
                <a:spcPts val="8400"/>
              </a:lnSpc>
            </a:pPr>
            <a:r>
              <a:rPr lang="en-US" sz="3000" b="1" u="sng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OBJECTIVE AND OVERVIEW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A909A8F8-875A-1CB7-6ADA-CB84ED35303D}"/>
              </a:ext>
            </a:extLst>
          </p:cNvPr>
          <p:cNvSpPr/>
          <p:nvPr/>
        </p:nvSpPr>
        <p:spPr>
          <a:xfrm>
            <a:off x="446832" y="1795633"/>
            <a:ext cx="17394335" cy="8077200"/>
          </a:xfrm>
          <a:custGeom>
            <a:avLst/>
            <a:gdLst/>
            <a:ahLst/>
            <a:cxnLst/>
            <a:rect l="l" t="t" r="r" b="b"/>
            <a:pathLst>
              <a:path w="852355" h="1091533">
                <a:moveTo>
                  <a:pt x="47845" y="0"/>
                </a:moveTo>
                <a:lnTo>
                  <a:pt x="804510" y="0"/>
                </a:lnTo>
                <a:cubicBezTo>
                  <a:pt x="817199" y="0"/>
                  <a:pt x="829369" y="5041"/>
                  <a:pt x="838341" y="14013"/>
                </a:cubicBezTo>
                <a:cubicBezTo>
                  <a:pt x="847314" y="22986"/>
                  <a:pt x="852355" y="35155"/>
                  <a:pt x="852355" y="47845"/>
                </a:cubicBezTo>
                <a:lnTo>
                  <a:pt x="852355" y="1043688"/>
                </a:lnTo>
                <a:cubicBezTo>
                  <a:pt x="852355" y="1056378"/>
                  <a:pt x="847314" y="1068547"/>
                  <a:pt x="838341" y="1077520"/>
                </a:cubicBezTo>
                <a:cubicBezTo>
                  <a:pt x="829369" y="1086492"/>
                  <a:pt x="817199" y="1091533"/>
                  <a:pt x="804510" y="1091533"/>
                </a:cubicBezTo>
                <a:lnTo>
                  <a:pt x="47845" y="1091533"/>
                </a:lnTo>
                <a:cubicBezTo>
                  <a:pt x="35155" y="1091533"/>
                  <a:pt x="22986" y="1086492"/>
                  <a:pt x="14013" y="1077520"/>
                </a:cubicBezTo>
                <a:cubicBezTo>
                  <a:pt x="5041" y="1068547"/>
                  <a:pt x="0" y="1056378"/>
                  <a:pt x="0" y="1043688"/>
                </a:cubicBezTo>
                <a:lnTo>
                  <a:pt x="0" y="47845"/>
                </a:lnTo>
                <a:cubicBezTo>
                  <a:pt x="0" y="35155"/>
                  <a:pt x="5041" y="22986"/>
                  <a:pt x="14013" y="14013"/>
                </a:cubicBezTo>
                <a:cubicBezTo>
                  <a:pt x="22986" y="5041"/>
                  <a:pt x="35155" y="0"/>
                  <a:pt x="47845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 dirty="0"/>
          </a:p>
          <a:p>
            <a:r>
              <a:rPr lang="en-US" b="1" dirty="0"/>
              <a:t>Overview: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US" b="0" i="0" dirty="0">
                <a:solidFill>
                  <a:srgbClr val="000000"/>
                </a:solidFill>
                <a:effectLst/>
                <a:latin typeface="Bogle" panose="020B0503020203060203" pitchFamily="34" charset="77"/>
              </a:rPr>
              <a:t>his project is focused on examining the Bollywood industry from multiple perspectives (film, director, and actor) to gain a comprehensive understanding. Analyses include understanding the factors that contribute to a movie's success (hit or flop), the impact of directors and actors on a movie's performance, and the correlation between a director's or an actor's popularity and their professional success.</a:t>
            </a:r>
          </a:p>
          <a:p>
            <a:endParaRPr lang="en-US" dirty="0">
              <a:solidFill>
                <a:srgbClr val="000000"/>
              </a:solidFill>
              <a:latin typeface="Bogle" panose="020B0503020203060203" pitchFamily="34" charset="77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Bogle" panose="020B0503020203060203" pitchFamily="34" charset="77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4F4DB-7316-4C96-0710-717987EF072D}"/>
              </a:ext>
            </a:extLst>
          </p:cNvPr>
          <p:cNvSpPr txBox="1"/>
          <p:nvPr/>
        </p:nvSpPr>
        <p:spPr>
          <a:xfrm>
            <a:off x="1066800" y="4305300"/>
            <a:ext cx="14661453" cy="4830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r>
              <a: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Movie Performance: 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By looking at the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hitFlop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field in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MovieDetails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dataset, we can determine which movies were successful or not. This could be analyzed further by year (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releaseYear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), genre (genre), or by the individual actors (actors) or directors (directors) involved.</a:t>
            </a: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endParaRPr lang="en-US" sz="1600" b="1" dirty="0">
              <a:solidFill>
                <a:srgbClr val="010F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r>
              <a: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Actor Performance: 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Using the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BollywoodActor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dataset, we can analyze the success of individual actors. Also might look at the total number of movies they've been in (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movieCount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), their overall ratings (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ratingSum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normalizedRating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), and their popularity (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googleHits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normalizedGoogleRank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endParaRPr lang="en-US" sz="1600" b="1" dirty="0">
              <a:solidFill>
                <a:srgbClr val="010F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r>
              <a: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Director Performance: 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Similarly, the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BollywoodDirector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dataset can give us insights into the success of individual directors, using similar metrics to those used for actors.</a:t>
            </a: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endParaRPr lang="en-US" sz="1600" b="1" dirty="0">
              <a:solidFill>
                <a:srgbClr val="010F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r>
              <a: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Trends Over Time: 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By using the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releaseYear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field in the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MovieDetails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dataset, we can look at trends over time. This could include changes in movie success, genre popularity, or the prominence of specific actors or directors.</a:t>
            </a: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endParaRPr lang="en-US" sz="1600" b="1" dirty="0">
              <a:solidFill>
                <a:srgbClr val="010F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r>
              <a: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Genre Analysis: 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We can use the genre field in the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MovieDetails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dataset to analyze the success and popularity of different genres. This could be further broken down by actor, director, or year.</a:t>
            </a: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endParaRPr lang="en-US" sz="1600" b="1" dirty="0">
              <a:solidFill>
                <a:srgbClr val="010F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indent="-171450">
              <a:lnSpc>
                <a:spcPts val="2100"/>
              </a:lnSpc>
              <a:buFont typeface="Wingdings" pitchFamily="2" charset="2"/>
              <a:buChar char="Ø"/>
            </a:pPr>
            <a:r>
              <a: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Correlation Analysis: 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We could also look at correlations between different variables. For example, is there a relationship between a director's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normalizedRating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and the success of their movies (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hitFlop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)? Or between an actor's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googleHits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 and their </a:t>
            </a:r>
            <a:r>
              <a:rPr lang="en-US" sz="1600" dirty="0" err="1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normalizedMovieRank</a:t>
            </a:r>
            <a:r>
              <a:rPr lang="en-US" sz="16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642799" y="4278408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PREPARATION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15DFB92F-724D-88B6-A8CE-E6861A5EA8B4}"/>
              </a:ext>
            </a:extLst>
          </p:cNvPr>
          <p:cNvSpPr txBox="1"/>
          <p:nvPr/>
        </p:nvSpPr>
        <p:spPr>
          <a:xfrm>
            <a:off x="3352800" y="1109150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Details</a:t>
            </a: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1ED43E77-65AE-001F-1CA1-6E5C2DFDE147}"/>
              </a:ext>
            </a:extLst>
          </p:cNvPr>
          <p:cNvGrpSpPr/>
          <p:nvPr/>
        </p:nvGrpSpPr>
        <p:grpSpPr>
          <a:xfrm>
            <a:off x="609600" y="2781301"/>
            <a:ext cx="17394335" cy="6377610"/>
            <a:chOff x="0" y="0"/>
            <a:chExt cx="4315045" cy="5525885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720DE899-669C-BC2E-172B-B48C7D2567EA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C8C48FE7-3FA8-C928-7A87-D930A561502F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77EE747B-A1BE-38F8-AA12-B09B012CF6B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221ECD4C-DFF0-A67B-0F67-7D13A5692B8D}"/>
                </a:ext>
              </a:extLst>
            </p:cNvPr>
            <p:cNvSpPr txBox="1"/>
            <p:nvPr/>
          </p:nvSpPr>
          <p:spPr>
            <a:xfrm>
              <a:off x="332077" y="533131"/>
              <a:ext cx="3637094" cy="34746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2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A unique identifier for each director.</a:t>
              </a: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2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directorName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The name of the director.</a:t>
              </a: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2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movieCount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likely indicates the number of movies the director has made.</a:t>
              </a: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2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ratingSum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could be the sum of the ratings of all movies directed by the director.</a:t>
              </a: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2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normalizedMovieRank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could be the average ranking for the director's movies, adjusted to a common scale.</a:t>
              </a: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2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googleHits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could represent the number of Google search results related to the director.</a:t>
              </a: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2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normalizedGoogleRank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might represent the director's popularity or relevance, based on Google search results, adjusted to a common scale.</a:t>
              </a: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171450" indent="-1714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2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normalizedRating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could be the director's average rating, adjusted to a common scale.</a:t>
              </a:r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BACA5D62-29D0-E7F3-1EA6-11858CEC8601}"/>
                </a:ext>
              </a:extLst>
            </p:cNvPr>
            <p:cNvSpPr txBox="1"/>
            <p:nvPr/>
          </p:nvSpPr>
          <p:spPr>
            <a:xfrm>
              <a:off x="420700" y="261349"/>
              <a:ext cx="3595854" cy="288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Attribute Description</a:t>
              </a:r>
            </a:p>
          </p:txBody>
        </p:sp>
      </p:grpSp>
      <p:sp>
        <p:nvSpPr>
          <p:cNvPr id="79" name="TextBox 11">
            <a:extLst>
              <a:ext uri="{FF2B5EF4-FFF2-40B4-BE49-F238E27FC236}">
                <a16:creationId xmlns:a16="http://schemas.microsoft.com/office/drawing/2014/main" id="{0717BB97-06FF-77BC-0E12-849B40A681EC}"/>
              </a:ext>
            </a:extLst>
          </p:cNvPr>
          <p:cNvSpPr txBox="1"/>
          <p:nvPr/>
        </p:nvSpPr>
        <p:spPr>
          <a:xfrm>
            <a:off x="1157918" y="1997881"/>
            <a:ext cx="12569713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BollywoodDirectors</a:t>
            </a: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Data: </a:t>
            </a:r>
            <a:r>
              <a:rPr lang="en-US" sz="1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dataset seems to contain information about Bollywood directors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5503C-78CB-B819-834C-0903A3509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697708-CC89-43FD-4008-831C32D562C4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DB78DD5-72E7-BE95-A25B-048E6219B55E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1AF991C-F100-DBC7-DDB7-9F996C81B019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A2F7808-5075-9945-F8FB-AA2F7CA592D0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15500273-21E7-F935-D61F-A4F42BD97CD5}"/>
              </a:ext>
            </a:extLst>
          </p:cNvPr>
          <p:cNvSpPr txBox="1"/>
          <p:nvPr/>
        </p:nvSpPr>
        <p:spPr>
          <a:xfrm>
            <a:off x="3352800" y="1109150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Details..</a:t>
            </a:r>
            <a:r>
              <a:rPr lang="en-US" sz="3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contd</a:t>
            </a:r>
            <a:endParaRPr lang="en-US" sz="3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E7E126E1-04CD-86A6-9E17-1C023058DF3B}"/>
              </a:ext>
            </a:extLst>
          </p:cNvPr>
          <p:cNvGrpSpPr/>
          <p:nvPr/>
        </p:nvGrpSpPr>
        <p:grpSpPr>
          <a:xfrm>
            <a:off x="609600" y="2781301"/>
            <a:ext cx="17394335" cy="6377610"/>
            <a:chOff x="0" y="0"/>
            <a:chExt cx="4315045" cy="5525885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345A2322-23C8-4DB3-D466-1504E25D5FFC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3765941A-F5F3-63BD-BAFE-4E2014B290D7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E8A90AA9-970D-DC1C-B71A-6AEB2D4ABB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F8FB7B39-DBDC-DA3F-D458-53399525AB00}"/>
                </a:ext>
              </a:extLst>
            </p:cNvPr>
            <p:cNvSpPr txBox="1"/>
            <p:nvPr/>
          </p:nvSpPr>
          <p:spPr>
            <a:xfrm>
              <a:off x="332077" y="533131"/>
              <a:ext cx="3637094" cy="3952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actorId</a:t>
              </a: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unique identifier for each actor.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actorName</a:t>
              </a: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name of the actor.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movieCount</a:t>
              </a: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likely indicates the number of movies the actor has starred in.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ratingSum</a:t>
              </a: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could be the sum of the ratings of all movies the actor has starred in.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normalizedMovieRank</a:t>
              </a: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could be the average ranking for the actor's movies, adjusted to a common scale.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googleHits</a:t>
              </a: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could represent the number of Google search results related to the actor.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normalizedGoogleRank</a:t>
              </a: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might represent the actor's popularity or relevance, based on Google search results, adjusted to a common scale.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endParaRPr lang="en-US" sz="1600" b="1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normalizedRating</a:t>
              </a: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could be the actor's average rating, adjusted to a common scale.</a:t>
              </a: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BA247C7D-F534-9E65-0D51-A92CDD3CBF0A}"/>
                </a:ext>
              </a:extLst>
            </p:cNvPr>
            <p:cNvSpPr txBox="1"/>
            <p:nvPr/>
          </p:nvSpPr>
          <p:spPr>
            <a:xfrm>
              <a:off x="420700" y="261349"/>
              <a:ext cx="3595854" cy="288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Attribute Description</a:t>
              </a:r>
            </a:p>
          </p:txBody>
        </p:sp>
      </p:grpSp>
      <p:sp>
        <p:nvSpPr>
          <p:cNvPr id="79" name="TextBox 11">
            <a:extLst>
              <a:ext uri="{FF2B5EF4-FFF2-40B4-BE49-F238E27FC236}">
                <a16:creationId xmlns:a16="http://schemas.microsoft.com/office/drawing/2014/main" id="{D62D8E11-806C-8910-9972-FDBF1C9D8517}"/>
              </a:ext>
            </a:extLst>
          </p:cNvPr>
          <p:cNvSpPr txBox="1"/>
          <p:nvPr/>
        </p:nvSpPr>
        <p:spPr>
          <a:xfrm>
            <a:off x="1157918" y="1997881"/>
            <a:ext cx="12569713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BollywoodActor</a:t>
            </a: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Data: </a:t>
            </a:r>
            <a:r>
              <a:rPr lang="en-US" sz="1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dataset seems to contain information about Bollywood actors</a:t>
            </a:r>
          </a:p>
        </p:txBody>
      </p:sp>
    </p:spTree>
    <p:extLst>
      <p:ext uri="{BB962C8B-B14F-4D97-AF65-F5344CB8AC3E}">
        <p14:creationId xmlns:p14="http://schemas.microsoft.com/office/powerpoint/2010/main" val="303600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23A64-05AF-7BD4-6ED1-672419A1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3EF0B9-374C-1763-9D3E-61EC6ADFB906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58313F2-90FA-F665-049C-2F521125068F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0ADB67D-914E-45F3-1C88-448BF35E4F0A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F3B4C24-0F10-1A61-633D-43C87E0107AF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BA7019A8-299F-5203-9D99-22A86F4A2E36}"/>
              </a:ext>
            </a:extLst>
          </p:cNvPr>
          <p:cNvSpPr txBox="1"/>
          <p:nvPr/>
        </p:nvSpPr>
        <p:spPr>
          <a:xfrm>
            <a:off x="3352800" y="1109150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Details..</a:t>
            </a:r>
            <a:r>
              <a:rPr lang="en-US" sz="3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contd</a:t>
            </a:r>
            <a:endParaRPr lang="en-US" sz="3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3B2352DB-1634-DC28-50C4-814FB2F8FEF3}"/>
              </a:ext>
            </a:extLst>
          </p:cNvPr>
          <p:cNvGrpSpPr/>
          <p:nvPr/>
        </p:nvGrpSpPr>
        <p:grpSpPr>
          <a:xfrm>
            <a:off x="609600" y="2781301"/>
            <a:ext cx="17394335" cy="6377610"/>
            <a:chOff x="0" y="0"/>
            <a:chExt cx="4315045" cy="5525885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BB8B94A4-6BA2-B9C5-077E-2771B8B0CA63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FB2B8466-3A7E-8916-4F8E-0C3EB226D04B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7D9E35B7-BA6F-FD8C-FC58-69DEF98489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863D88CD-1CD7-6790-F772-2802EDFE1DC9}"/>
                </a:ext>
              </a:extLst>
            </p:cNvPr>
            <p:cNvSpPr txBox="1"/>
            <p:nvPr/>
          </p:nvSpPr>
          <p:spPr>
            <a:xfrm>
              <a:off x="332077" y="533131"/>
              <a:ext cx="3637094" cy="32413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imdbId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is likely the unique identifier for each movie, as assigned by the Internet Movie Database (IMDb.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The title of each movie.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releaseYear</a:t>
              </a: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and </a:t>
              </a: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releaseDate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These fields provide information about when each movie was released.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genre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column describes the genre or genres of each movie.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writers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field probably lists the writer or writers of each movie.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actor_id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A unique identifier for the actor or actors in the movie.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actors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field lists the names of the main actors in the movie.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director_id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A unique identifier for the director of the movie.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directors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field lists the name of the movie's director.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sequel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field indicates whether the movie is a sequel or not.</a:t>
              </a:r>
            </a:p>
            <a:p>
              <a:pPr marL="285750" indent="-285750">
                <a:lnSpc>
                  <a:spcPts val="2100"/>
                </a:lnSpc>
                <a:buFont typeface="Wingdings" pitchFamily="2" charset="2"/>
                <a:buChar char="Ø"/>
              </a:pPr>
              <a:r>
                <a:rPr lang="en-US" sz="1600" b="1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hitFlop</a:t>
              </a:r>
              <a:r>
                <a:rPr lang="en-US" sz="16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This could be a categorical variable indicating the success or failure of the movie.</a:t>
              </a:r>
            </a:p>
            <a:p>
              <a:pPr algn="ctr"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980C31D8-9F07-196C-D1F3-752A88C87CAD}"/>
                </a:ext>
              </a:extLst>
            </p:cNvPr>
            <p:cNvSpPr txBox="1"/>
            <p:nvPr/>
          </p:nvSpPr>
          <p:spPr>
            <a:xfrm>
              <a:off x="420700" y="261349"/>
              <a:ext cx="3595854" cy="288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Attribute Description</a:t>
              </a:r>
            </a:p>
          </p:txBody>
        </p:sp>
      </p:grpSp>
      <p:sp>
        <p:nvSpPr>
          <p:cNvPr id="79" name="TextBox 11">
            <a:extLst>
              <a:ext uri="{FF2B5EF4-FFF2-40B4-BE49-F238E27FC236}">
                <a16:creationId xmlns:a16="http://schemas.microsoft.com/office/drawing/2014/main" id="{F43CB50D-70D2-7492-ED25-DF1150FFA22A}"/>
              </a:ext>
            </a:extLst>
          </p:cNvPr>
          <p:cNvSpPr txBox="1"/>
          <p:nvPr/>
        </p:nvSpPr>
        <p:spPr>
          <a:xfrm>
            <a:off x="1157918" y="1997881"/>
            <a:ext cx="12569713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BollyWood</a:t>
            </a: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Movie Details Data: </a:t>
            </a:r>
            <a:r>
              <a:rPr lang="en-US" sz="1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dataset appears to contain information related to different aspects of movies</a:t>
            </a:r>
          </a:p>
        </p:txBody>
      </p:sp>
    </p:spTree>
    <p:extLst>
      <p:ext uri="{BB962C8B-B14F-4D97-AF65-F5344CB8AC3E}">
        <p14:creationId xmlns:p14="http://schemas.microsoft.com/office/powerpoint/2010/main" val="142754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26CA1-5763-4B20-BF88-11096947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F687C5-7698-7B6D-7AAB-9D56F6F3B636}"/>
              </a:ext>
            </a:extLst>
          </p:cNvPr>
          <p:cNvSpPr/>
          <p:nvPr/>
        </p:nvSpPr>
        <p:spPr>
          <a:xfrm>
            <a:off x="-22715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0B03DF3-EA09-76D9-C044-73E572966A84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7AC3104-B0A1-A25E-4408-5FE9F0922C9C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D0D0DCF-BE66-E317-CA04-E8F2D91AFD22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7A695FDF-9AD5-6D61-A319-AB309D05F2F9}"/>
              </a:ext>
            </a:extLst>
          </p:cNvPr>
          <p:cNvSpPr txBox="1"/>
          <p:nvPr/>
        </p:nvSpPr>
        <p:spPr>
          <a:xfrm>
            <a:off x="3352800" y="1109150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Creation of Director and Actor Dataset:</a:t>
            </a: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E5744911-52A4-FB47-43C6-1456B4A2BD1B}"/>
              </a:ext>
            </a:extLst>
          </p:cNvPr>
          <p:cNvGrpSpPr/>
          <p:nvPr/>
        </p:nvGrpSpPr>
        <p:grpSpPr>
          <a:xfrm>
            <a:off x="609600" y="1656382"/>
            <a:ext cx="7543800" cy="7964836"/>
            <a:chOff x="0" y="-192881"/>
            <a:chExt cx="4716320" cy="5718766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37BF6584-E564-BB62-BF28-C7E7A069BD30}"/>
                </a:ext>
              </a:extLst>
            </p:cNvPr>
            <p:cNvGrpSpPr/>
            <p:nvPr/>
          </p:nvGrpSpPr>
          <p:grpSpPr>
            <a:xfrm>
              <a:off x="0" y="-192881"/>
              <a:ext cx="4538913" cy="5718766"/>
              <a:chOff x="0" y="-38100"/>
              <a:chExt cx="896576" cy="11296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25420E30-9497-346A-D0EA-CA0ACD930FF5}"/>
                  </a:ext>
                </a:extLst>
              </p:cNvPr>
              <p:cNvSpPr/>
              <p:nvPr/>
            </p:nvSpPr>
            <p:spPr>
              <a:xfrm>
                <a:off x="44221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14E1A2F3-8DCD-58F1-4B62-5E1F30E2FFC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7D5B3628-EC6A-8509-2EA5-2A4BDF3F9FA5}"/>
                </a:ext>
              </a:extLst>
            </p:cNvPr>
            <p:cNvSpPr txBox="1"/>
            <p:nvPr/>
          </p:nvSpPr>
          <p:spPr>
            <a:xfrm>
              <a:off x="337807" y="692690"/>
              <a:ext cx="4378513" cy="36596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TABLE Director (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 PRIMARY KEY,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directorName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VARCHAR(100) NOT NULL,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movieCount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ratingSum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normalizedMovieRank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FLOAT,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googleHits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normalizedGoogleRank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FLOAT,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normalizedRating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FLOAT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);</a:t>
              </a:r>
            </a:p>
            <a:p>
              <a:pPr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LOAD DATA LOCAL INFILE '/Users/u0n000f/Downloads/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BollywoodDirectorRanking.csv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' INTO TABLE Director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FIELDS TERMINATED BY ','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ENCLOSED BY '"'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LINES TERMINATED BY '\n'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IGNORE 1 LINES;</a:t>
              </a:r>
            </a:p>
            <a:p>
              <a:pPr algn="ctr"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87CE4970-F8B2-2D84-DE62-ABD8AFDF8860}"/>
                </a:ext>
              </a:extLst>
            </p:cNvPr>
            <p:cNvSpPr txBox="1"/>
            <p:nvPr/>
          </p:nvSpPr>
          <p:spPr>
            <a:xfrm>
              <a:off x="420700" y="261349"/>
              <a:ext cx="3595854" cy="2741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Directors Table:</a:t>
              </a:r>
            </a:p>
          </p:txBody>
        </p:sp>
      </p:grpSp>
      <p:grpSp>
        <p:nvGrpSpPr>
          <p:cNvPr id="73" name="Group 5">
            <a:extLst>
              <a:ext uri="{FF2B5EF4-FFF2-40B4-BE49-F238E27FC236}">
                <a16:creationId xmlns:a16="http://schemas.microsoft.com/office/drawing/2014/main" id="{217C5531-3B69-9635-A8BE-740A3E310D45}"/>
              </a:ext>
            </a:extLst>
          </p:cNvPr>
          <p:cNvGrpSpPr/>
          <p:nvPr/>
        </p:nvGrpSpPr>
        <p:grpSpPr>
          <a:xfrm>
            <a:off x="9394714" y="1796401"/>
            <a:ext cx="7925606" cy="7696200"/>
            <a:chOff x="0" y="0"/>
            <a:chExt cx="4315045" cy="5525885"/>
          </a:xfrm>
        </p:grpSpPr>
        <p:grpSp>
          <p:nvGrpSpPr>
            <p:cNvPr id="74" name="Group 6">
              <a:extLst>
                <a:ext uri="{FF2B5EF4-FFF2-40B4-BE49-F238E27FC236}">
                  <a16:creationId xmlns:a16="http://schemas.microsoft.com/office/drawing/2014/main" id="{58DEE62A-069A-3893-50C2-F5E95740A27E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3FE26079-0BD9-29A6-70D1-FC7CF625A3BD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" name="TextBox 8">
                <a:extLst>
                  <a:ext uri="{FF2B5EF4-FFF2-40B4-BE49-F238E27FC236}">
                    <a16:creationId xmlns:a16="http://schemas.microsoft.com/office/drawing/2014/main" id="{E52FCCDC-E691-8A04-A5FA-0A3AFF2CF0B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75" name="TextBox 10">
              <a:extLst>
                <a:ext uri="{FF2B5EF4-FFF2-40B4-BE49-F238E27FC236}">
                  <a16:creationId xmlns:a16="http://schemas.microsoft.com/office/drawing/2014/main" id="{9FB4AAF4-4B2A-D66F-BEED-AA9FB85487C6}"/>
                </a:ext>
              </a:extLst>
            </p:cNvPr>
            <p:cNvSpPr txBox="1"/>
            <p:nvPr/>
          </p:nvSpPr>
          <p:spPr>
            <a:xfrm>
              <a:off x="379460" y="789696"/>
              <a:ext cx="3637094" cy="36596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TABLE Actor (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 PRIMARY KEY,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actorName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VARCHAR(100) NOT NULL,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movieCount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ratingSum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normalizedMovieRank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FLOAT,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googleHits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normalizedGoogleRank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FLOAT,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normalizedRating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FLOAT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);</a:t>
              </a:r>
            </a:p>
            <a:p>
              <a:pPr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LOAD DATA LOCAL INFILE '/Users/u0n000f/Downloads/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BollywoodActorRanking.csv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' INTO TABLE Actor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FIELDS TERMINATED BY ','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ENCLOSED BY '"'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LINES TERMINATED BY '\n'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IGNORE 1 LINES;</a:t>
              </a:r>
            </a:p>
            <a:p>
              <a:pPr algn="ctr">
                <a:lnSpc>
                  <a:spcPts val="2100"/>
                </a:lnSpc>
              </a:pPr>
              <a:endParaRPr lang="en-US" sz="15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6" name="TextBox 11">
              <a:extLst>
                <a:ext uri="{FF2B5EF4-FFF2-40B4-BE49-F238E27FC236}">
                  <a16:creationId xmlns:a16="http://schemas.microsoft.com/office/drawing/2014/main" id="{4CF15C43-3B1D-884E-9B60-94356DB0EFC8}"/>
                </a:ext>
              </a:extLst>
            </p:cNvPr>
            <p:cNvSpPr txBox="1"/>
            <p:nvPr/>
          </p:nvSpPr>
          <p:spPr>
            <a:xfrm>
              <a:off x="420700" y="261349"/>
              <a:ext cx="3595854" cy="2741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Actor Table: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639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5F21-5E96-A858-6B19-2AC69B7AA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7B4CFC-FD1D-628F-70AD-2B162E65B16B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D824D76-B9F7-849B-F874-DB800B77939E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087C6AE-5AA1-C73C-402B-62C0DFC34403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D8B3CDF-1246-A4B1-885A-38D939B87CCF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7" name="Group 5">
            <a:extLst>
              <a:ext uri="{FF2B5EF4-FFF2-40B4-BE49-F238E27FC236}">
                <a16:creationId xmlns:a16="http://schemas.microsoft.com/office/drawing/2014/main" id="{F565A2B5-38CD-6E75-2F2D-4D08AACB086C}"/>
              </a:ext>
            </a:extLst>
          </p:cNvPr>
          <p:cNvGrpSpPr/>
          <p:nvPr/>
        </p:nvGrpSpPr>
        <p:grpSpPr>
          <a:xfrm>
            <a:off x="936638" y="1917415"/>
            <a:ext cx="6988162" cy="7499233"/>
            <a:chOff x="0" y="0"/>
            <a:chExt cx="4315045" cy="5525885"/>
          </a:xfrm>
        </p:grpSpPr>
        <p:grpSp>
          <p:nvGrpSpPr>
            <p:cNvPr id="48" name="Group 6">
              <a:extLst>
                <a:ext uri="{FF2B5EF4-FFF2-40B4-BE49-F238E27FC236}">
                  <a16:creationId xmlns:a16="http://schemas.microsoft.com/office/drawing/2014/main" id="{07A32C13-6F6A-A42B-85D5-400142F613B9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52" name="Freeform 7">
                <a:extLst>
                  <a:ext uri="{FF2B5EF4-FFF2-40B4-BE49-F238E27FC236}">
                    <a16:creationId xmlns:a16="http://schemas.microsoft.com/office/drawing/2014/main" id="{DFC1EED7-EC99-3DF3-4C3E-2831C349159D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3" name="TextBox 8">
                <a:extLst>
                  <a:ext uri="{FF2B5EF4-FFF2-40B4-BE49-F238E27FC236}">
                    <a16:creationId xmlns:a16="http://schemas.microsoft.com/office/drawing/2014/main" id="{23E62F3E-F0E4-2587-717E-83DB07AE41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50" name="TextBox 10">
              <a:extLst>
                <a:ext uri="{FF2B5EF4-FFF2-40B4-BE49-F238E27FC236}">
                  <a16:creationId xmlns:a16="http://schemas.microsoft.com/office/drawing/2014/main" id="{DCAF75D7-56F5-D424-606D-A276D45F2A19}"/>
                </a:ext>
              </a:extLst>
            </p:cNvPr>
            <p:cNvSpPr txBox="1"/>
            <p:nvPr/>
          </p:nvSpPr>
          <p:spPr>
            <a:xfrm>
              <a:off x="141882" y="585440"/>
              <a:ext cx="4045909" cy="45414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TABLE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bollywoodmoviedetail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(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imdbId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VARCHAR(20) PRIMARY KEY,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title VARCHAR(255) NOT NULL,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releaseYear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releaseDate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VARCHAR(100),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genre VARCHAR(100),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writers TEXT,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actor_id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actors TEXT,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director_id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directors TEXT,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sequel VARCHAR(255),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hitFlop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VARCHAR(50)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);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LOAD DATA LOCAL INFILE '/Users/u0n000f/Downloads/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sql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BollywoodMovieDetail.csv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' INTO TABLE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bollywoodmoviedetail</a:t>
              </a: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FIELDS TERMINATED BY ','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ENCLOSED BY '"'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LINES TERMINATED BY '\n'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IGNORE 1 LINES;</a:t>
              </a:r>
            </a:p>
            <a:p>
              <a:pPr algn="ctr">
                <a:lnSpc>
                  <a:spcPts val="2100"/>
                </a:lnSpc>
              </a:pPr>
              <a:endParaRPr lang="en-US" sz="15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2100"/>
                </a:lnSpc>
              </a:pPr>
              <a:endParaRPr lang="en-US" sz="15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" name="TextBox 11">
              <a:extLst>
                <a:ext uri="{FF2B5EF4-FFF2-40B4-BE49-F238E27FC236}">
                  <a16:creationId xmlns:a16="http://schemas.microsoft.com/office/drawing/2014/main" id="{D3E02870-E654-F192-AFA7-04014FEC8BED}"/>
                </a:ext>
              </a:extLst>
            </p:cNvPr>
            <p:cNvSpPr txBox="1"/>
            <p:nvPr/>
          </p:nvSpPr>
          <p:spPr>
            <a:xfrm>
              <a:off x="420700" y="261349"/>
              <a:ext cx="3248128" cy="244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Raw Movie Table:</a:t>
              </a:r>
            </a:p>
          </p:txBody>
        </p:sp>
      </p:grpSp>
      <p:sp>
        <p:nvSpPr>
          <p:cNvPr id="66" name="TextBox 3">
            <a:extLst>
              <a:ext uri="{FF2B5EF4-FFF2-40B4-BE49-F238E27FC236}">
                <a16:creationId xmlns:a16="http://schemas.microsoft.com/office/drawing/2014/main" id="{B6B64301-1BB8-C99E-E841-1BE0B8F88193}"/>
              </a:ext>
            </a:extLst>
          </p:cNvPr>
          <p:cNvSpPr txBox="1"/>
          <p:nvPr/>
        </p:nvSpPr>
        <p:spPr>
          <a:xfrm>
            <a:off x="3352800" y="1109150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Preparation of Movie Dataset: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4BE20202-B7E9-24BC-8E3F-4E0DDDA7747F}"/>
              </a:ext>
            </a:extLst>
          </p:cNvPr>
          <p:cNvGrpSpPr/>
          <p:nvPr/>
        </p:nvGrpSpPr>
        <p:grpSpPr>
          <a:xfrm>
            <a:off x="9448800" y="1917415"/>
            <a:ext cx="6645500" cy="7512605"/>
            <a:chOff x="0" y="0"/>
            <a:chExt cx="4315045" cy="552588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BE82A55-A43C-25B7-B597-6E79AD697D9D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9B137B33-68A8-19FB-616E-03993CDBFC7A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1C89C52B-4529-A05E-83DB-D0419EF93FD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EAF7C9F1-A354-505E-AE04-CECF0EDC7989}"/>
                </a:ext>
              </a:extLst>
            </p:cNvPr>
            <p:cNvSpPr txBox="1"/>
            <p:nvPr/>
          </p:nvSpPr>
          <p:spPr>
            <a:xfrm>
              <a:off x="141882" y="585440"/>
              <a:ext cx="4045909" cy="49306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TABLE movie (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imdbId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VARCHAR(20) PRIMARY KEY,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title VARCHAR(255) NOT NULL,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releaseYear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releaseDate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DATE,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genre VARCHAR(100),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writers TEXT,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actors TEXT,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directors TEXT,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sequel VARCHAR(255),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hitFlop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VARCHAR(50),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actor_id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director_id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FOREIGN KEY (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actor_id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 REFERENCES actor(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),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FOREIGN KEY (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director_id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 REFERENCES director(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);</a:t>
              </a:r>
            </a:p>
            <a:p>
              <a:pPr>
                <a:lnSpc>
                  <a:spcPts val="2100"/>
                </a:lnSpc>
              </a:pP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INSERT INTO movie (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imdbId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title,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releaseYear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releaseDate,genre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writers, actors,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directors,sequel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hitFlop,actor_id,director_id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SELECTimdbId,title,releaseYear,STR_TO_DATE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(NULLIF(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releaseDate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'N/A'), '%d-%b-%y'),genre,writers,actors,directors,sequel,hitFlop,actor_id,director_id   FROM </a:t>
              </a:r>
              <a:r>
                <a:rPr lang="en-US" sz="1200" dirty="0" err="1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bollywoodmoviedetail</a:t>
              </a:r>
              <a:r>
                <a: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;</a:t>
              </a:r>
              <a:endParaRPr lang="en-US" sz="15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CEBEA764-DA64-C6BD-2985-8D3D5BDF3A8C}"/>
                </a:ext>
              </a:extLst>
            </p:cNvPr>
            <p:cNvSpPr txBox="1"/>
            <p:nvPr/>
          </p:nvSpPr>
          <p:spPr>
            <a:xfrm>
              <a:off x="420700" y="261349"/>
              <a:ext cx="3248128" cy="244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Movie Table:</a:t>
              </a:r>
            </a:p>
          </p:txBody>
        </p:sp>
      </p:grpSp>
      <p:sp>
        <p:nvSpPr>
          <p:cNvPr id="3" name="Right Arrow 2">
            <a:extLst>
              <a:ext uri="{FF2B5EF4-FFF2-40B4-BE49-F238E27FC236}">
                <a16:creationId xmlns:a16="http://schemas.microsoft.com/office/drawing/2014/main" id="{433F26B8-5616-5ABB-831C-275C20EAE3A8}"/>
              </a:ext>
            </a:extLst>
          </p:cNvPr>
          <p:cNvSpPr/>
          <p:nvPr/>
        </p:nvSpPr>
        <p:spPr>
          <a:xfrm>
            <a:off x="8144983" y="4796196"/>
            <a:ext cx="978408" cy="4846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573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D57D8-9BAA-7FA4-20FF-7A2F2E6E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DC6679-68DB-6DBC-8E73-ED4990FE05B1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B1FC48-9A58-B92F-54FB-A27C99115BE1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B1F59E3-9EFE-1A8F-1F48-5164E9A9D5C3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ED01452-BB2B-D483-3B97-58407693165B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9F84EDFB-AB16-3C0A-D9AB-B6C10D88A681}"/>
              </a:ext>
            </a:extLst>
          </p:cNvPr>
          <p:cNvSpPr txBox="1"/>
          <p:nvPr/>
        </p:nvSpPr>
        <p:spPr>
          <a:xfrm>
            <a:off x="3337539" y="620410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 of Tables</a:t>
            </a: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2E1E4676-4020-E34D-BEC8-24553FF8E9CB}"/>
              </a:ext>
            </a:extLst>
          </p:cNvPr>
          <p:cNvGrpSpPr/>
          <p:nvPr/>
        </p:nvGrpSpPr>
        <p:grpSpPr>
          <a:xfrm>
            <a:off x="393449" y="620410"/>
            <a:ext cx="8445291" cy="7964836"/>
            <a:chOff x="-563605" y="-192881"/>
            <a:chExt cx="5279925" cy="5718766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C626F0AD-C664-97F0-FBB8-68C02586D71F}"/>
                </a:ext>
              </a:extLst>
            </p:cNvPr>
            <p:cNvGrpSpPr/>
            <p:nvPr/>
          </p:nvGrpSpPr>
          <p:grpSpPr>
            <a:xfrm>
              <a:off x="-467461" y="-192881"/>
              <a:ext cx="4782505" cy="5718766"/>
              <a:chOff x="-92338" y="-38100"/>
              <a:chExt cx="944693" cy="11296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BD29081C-D07D-BB48-817A-16CEEAF20A14}"/>
                  </a:ext>
                </a:extLst>
              </p:cNvPr>
              <p:cNvSpPr/>
              <p:nvPr/>
            </p:nvSpPr>
            <p:spPr>
              <a:xfrm>
                <a:off x="-92338" y="67408"/>
                <a:ext cx="786728" cy="626821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CFBEB108-CE4D-B277-5BC1-3234C90A60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4E82927C-62DF-241B-B7E0-EC32B28FEA10}"/>
                </a:ext>
              </a:extLst>
            </p:cNvPr>
            <p:cNvSpPr txBox="1"/>
            <p:nvPr/>
          </p:nvSpPr>
          <p:spPr>
            <a:xfrm>
              <a:off x="337807" y="692690"/>
              <a:ext cx="4378513" cy="1723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9BE90E64-F3A9-8C47-F6C5-DAA2066E76BD}"/>
                </a:ext>
              </a:extLst>
            </p:cNvPr>
            <p:cNvSpPr txBox="1"/>
            <p:nvPr/>
          </p:nvSpPr>
          <p:spPr>
            <a:xfrm>
              <a:off x="-563605" y="472665"/>
              <a:ext cx="3595854" cy="2388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Movie Table: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EDE761-3E8E-80AA-FBE0-297E1B963049}"/>
              </a:ext>
            </a:extLst>
          </p:cNvPr>
          <p:cNvGrpSpPr/>
          <p:nvPr/>
        </p:nvGrpSpPr>
        <p:grpSpPr>
          <a:xfrm>
            <a:off x="10895217" y="620410"/>
            <a:ext cx="8445291" cy="7964836"/>
            <a:chOff x="11634605" y="621509"/>
            <a:chExt cx="8445291" cy="7964836"/>
          </a:xfrm>
        </p:grpSpPr>
        <p:grpSp>
          <p:nvGrpSpPr>
            <p:cNvPr id="17" name="Group 5">
              <a:extLst>
                <a:ext uri="{FF2B5EF4-FFF2-40B4-BE49-F238E27FC236}">
                  <a16:creationId xmlns:a16="http://schemas.microsoft.com/office/drawing/2014/main" id="{9D428426-7C76-215E-1D11-11372FA2DAA1}"/>
                </a:ext>
              </a:extLst>
            </p:cNvPr>
            <p:cNvGrpSpPr/>
            <p:nvPr/>
          </p:nvGrpSpPr>
          <p:grpSpPr>
            <a:xfrm>
              <a:off x="11634605" y="621509"/>
              <a:ext cx="8445291" cy="7964836"/>
              <a:chOff x="-563605" y="-192881"/>
              <a:chExt cx="5279925" cy="5718766"/>
            </a:xfrm>
          </p:grpSpPr>
          <p:grpSp>
            <p:nvGrpSpPr>
              <p:cNvPr id="19" name="Group 6">
                <a:extLst>
                  <a:ext uri="{FF2B5EF4-FFF2-40B4-BE49-F238E27FC236}">
                    <a16:creationId xmlns:a16="http://schemas.microsoft.com/office/drawing/2014/main" id="{90C60568-0951-9463-C34C-134A0B8AE77F}"/>
                  </a:ext>
                </a:extLst>
              </p:cNvPr>
              <p:cNvGrpSpPr/>
              <p:nvPr/>
            </p:nvGrpSpPr>
            <p:grpSpPr>
              <a:xfrm>
                <a:off x="-467461" y="-192881"/>
                <a:ext cx="4782505" cy="5718766"/>
                <a:chOff x="-92338" y="-38100"/>
                <a:chExt cx="944693" cy="1129633"/>
              </a:xfrm>
            </p:grpSpPr>
            <p:sp>
              <p:nvSpPr>
                <p:cNvPr id="22" name="Freeform 7">
                  <a:extLst>
                    <a:ext uri="{FF2B5EF4-FFF2-40B4-BE49-F238E27FC236}">
                      <a16:creationId xmlns:a16="http://schemas.microsoft.com/office/drawing/2014/main" id="{0767CE8E-1E16-CE93-D229-C77FFB69B89A}"/>
                    </a:ext>
                  </a:extLst>
                </p:cNvPr>
                <p:cNvSpPr/>
                <p:nvPr/>
              </p:nvSpPr>
              <p:spPr>
                <a:xfrm>
                  <a:off x="-92338" y="67408"/>
                  <a:ext cx="786728" cy="626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355" h="1091533">
                      <a:moveTo>
                        <a:pt x="47845" y="0"/>
                      </a:moveTo>
                      <a:lnTo>
                        <a:pt x="804510" y="0"/>
                      </a:lnTo>
                      <a:cubicBezTo>
                        <a:pt x="817199" y="0"/>
                        <a:pt x="829369" y="5041"/>
                        <a:pt x="838341" y="14013"/>
                      </a:cubicBezTo>
                      <a:cubicBezTo>
                        <a:pt x="847314" y="22986"/>
                        <a:pt x="852355" y="35155"/>
                        <a:pt x="852355" y="47845"/>
                      </a:cubicBezTo>
                      <a:lnTo>
                        <a:pt x="852355" y="1043688"/>
                      </a:lnTo>
                      <a:cubicBezTo>
                        <a:pt x="852355" y="1056378"/>
                        <a:pt x="847314" y="1068547"/>
                        <a:pt x="838341" y="1077520"/>
                      </a:cubicBezTo>
                      <a:cubicBezTo>
                        <a:pt x="829369" y="1086492"/>
                        <a:pt x="817199" y="1091533"/>
                        <a:pt x="804510" y="1091533"/>
                      </a:cubicBezTo>
                      <a:lnTo>
                        <a:pt x="47845" y="1091533"/>
                      </a:lnTo>
                      <a:cubicBezTo>
                        <a:pt x="35155" y="1091533"/>
                        <a:pt x="22986" y="1086492"/>
                        <a:pt x="14013" y="1077520"/>
                      </a:cubicBezTo>
                      <a:cubicBezTo>
                        <a:pt x="5041" y="1068547"/>
                        <a:pt x="0" y="1056378"/>
                        <a:pt x="0" y="1043688"/>
                      </a:cubicBezTo>
                      <a:lnTo>
                        <a:pt x="0" y="47845"/>
                      </a:lnTo>
                      <a:cubicBezTo>
                        <a:pt x="0" y="35155"/>
                        <a:pt x="5041" y="22986"/>
                        <a:pt x="14013" y="14013"/>
                      </a:cubicBezTo>
                      <a:cubicBezTo>
                        <a:pt x="22986" y="5041"/>
                        <a:pt x="35155" y="0"/>
                        <a:pt x="478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0EB4EBFD-A272-2034-D3DF-94478CA3646C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52355" cy="112963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111"/>
                    </a:lnSpc>
                  </a:pPr>
                  <a:endParaRPr/>
                </a:p>
              </p:txBody>
            </p:sp>
          </p:grpSp>
          <p:sp>
            <p:nvSpPr>
              <p:cNvPr id="20" name="TextBox 10">
                <a:extLst>
                  <a:ext uri="{FF2B5EF4-FFF2-40B4-BE49-F238E27FC236}">
                    <a16:creationId xmlns:a16="http://schemas.microsoft.com/office/drawing/2014/main" id="{255DE0A1-2D12-5986-1D17-90DF2798A068}"/>
                  </a:ext>
                </a:extLst>
              </p:cNvPr>
              <p:cNvSpPr txBox="1"/>
              <p:nvPr/>
            </p:nvSpPr>
            <p:spPr>
              <a:xfrm>
                <a:off x="337807" y="692690"/>
                <a:ext cx="4378513" cy="17232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endPara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" name="TextBox 11">
                <a:extLst>
                  <a:ext uri="{FF2B5EF4-FFF2-40B4-BE49-F238E27FC236}">
                    <a16:creationId xmlns:a16="http://schemas.microsoft.com/office/drawing/2014/main" id="{09872380-2DA5-67AD-6700-B325D6F8BB88}"/>
                  </a:ext>
                </a:extLst>
              </p:cNvPr>
              <p:cNvSpPr txBox="1"/>
              <p:nvPr/>
            </p:nvSpPr>
            <p:spPr>
              <a:xfrm>
                <a:off x="-563605" y="472665"/>
                <a:ext cx="3595854" cy="23884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 dirty="0">
                    <a:solidFill>
                      <a:srgbClr val="010F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Actor Table:</a:t>
                </a: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D8A9023-31EC-AC62-9C23-77074C9A7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94251" y="2199658"/>
              <a:ext cx="5994049" cy="302321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2ED771-4114-B599-0525-39DF6FD042E7}"/>
              </a:ext>
            </a:extLst>
          </p:cNvPr>
          <p:cNvGrpSpPr/>
          <p:nvPr/>
        </p:nvGrpSpPr>
        <p:grpSpPr>
          <a:xfrm>
            <a:off x="5847842" y="5199187"/>
            <a:ext cx="8445291" cy="7964836"/>
            <a:chOff x="5205449" y="5005451"/>
            <a:chExt cx="8445291" cy="7964836"/>
          </a:xfrm>
        </p:grpSpPr>
        <p:grpSp>
          <p:nvGrpSpPr>
            <p:cNvPr id="9" name="Group 5">
              <a:extLst>
                <a:ext uri="{FF2B5EF4-FFF2-40B4-BE49-F238E27FC236}">
                  <a16:creationId xmlns:a16="http://schemas.microsoft.com/office/drawing/2014/main" id="{BC06FADB-DE6C-8CD8-7800-046D1F91113F}"/>
                </a:ext>
              </a:extLst>
            </p:cNvPr>
            <p:cNvGrpSpPr/>
            <p:nvPr/>
          </p:nvGrpSpPr>
          <p:grpSpPr>
            <a:xfrm>
              <a:off x="5205449" y="5005451"/>
              <a:ext cx="8445291" cy="7964836"/>
              <a:chOff x="-563605" y="-192881"/>
              <a:chExt cx="5279925" cy="5718766"/>
            </a:xfrm>
          </p:grpSpPr>
          <p:grpSp>
            <p:nvGrpSpPr>
              <p:cNvPr id="11" name="Group 6">
                <a:extLst>
                  <a:ext uri="{FF2B5EF4-FFF2-40B4-BE49-F238E27FC236}">
                    <a16:creationId xmlns:a16="http://schemas.microsoft.com/office/drawing/2014/main" id="{67BE50C0-154F-C899-B315-336ECCB7E91A}"/>
                  </a:ext>
                </a:extLst>
              </p:cNvPr>
              <p:cNvGrpSpPr/>
              <p:nvPr/>
            </p:nvGrpSpPr>
            <p:grpSpPr>
              <a:xfrm>
                <a:off x="-467461" y="-192881"/>
                <a:ext cx="4782505" cy="5718766"/>
                <a:chOff x="-92338" y="-38100"/>
                <a:chExt cx="944693" cy="1129633"/>
              </a:xfrm>
            </p:grpSpPr>
            <p:sp>
              <p:nvSpPr>
                <p:cNvPr id="14" name="Freeform 7">
                  <a:extLst>
                    <a:ext uri="{FF2B5EF4-FFF2-40B4-BE49-F238E27FC236}">
                      <a16:creationId xmlns:a16="http://schemas.microsoft.com/office/drawing/2014/main" id="{6A010D47-9FF5-E7BD-F351-2141F7D0E8A6}"/>
                    </a:ext>
                  </a:extLst>
                </p:cNvPr>
                <p:cNvSpPr/>
                <p:nvPr/>
              </p:nvSpPr>
              <p:spPr>
                <a:xfrm>
                  <a:off x="-92338" y="67408"/>
                  <a:ext cx="786728" cy="626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355" h="1091533">
                      <a:moveTo>
                        <a:pt x="47845" y="0"/>
                      </a:moveTo>
                      <a:lnTo>
                        <a:pt x="804510" y="0"/>
                      </a:lnTo>
                      <a:cubicBezTo>
                        <a:pt x="817199" y="0"/>
                        <a:pt x="829369" y="5041"/>
                        <a:pt x="838341" y="14013"/>
                      </a:cubicBezTo>
                      <a:cubicBezTo>
                        <a:pt x="847314" y="22986"/>
                        <a:pt x="852355" y="35155"/>
                        <a:pt x="852355" y="47845"/>
                      </a:cubicBezTo>
                      <a:lnTo>
                        <a:pt x="852355" y="1043688"/>
                      </a:lnTo>
                      <a:cubicBezTo>
                        <a:pt x="852355" y="1056378"/>
                        <a:pt x="847314" y="1068547"/>
                        <a:pt x="838341" y="1077520"/>
                      </a:cubicBezTo>
                      <a:cubicBezTo>
                        <a:pt x="829369" y="1086492"/>
                        <a:pt x="817199" y="1091533"/>
                        <a:pt x="804510" y="1091533"/>
                      </a:cubicBezTo>
                      <a:lnTo>
                        <a:pt x="47845" y="1091533"/>
                      </a:lnTo>
                      <a:cubicBezTo>
                        <a:pt x="35155" y="1091533"/>
                        <a:pt x="22986" y="1086492"/>
                        <a:pt x="14013" y="1077520"/>
                      </a:cubicBezTo>
                      <a:cubicBezTo>
                        <a:pt x="5041" y="1068547"/>
                        <a:pt x="0" y="1056378"/>
                        <a:pt x="0" y="1043688"/>
                      </a:cubicBezTo>
                      <a:lnTo>
                        <a:pt x="0" y="47845"/>
                      </a:lnTo>
                      <a:cubicBezTo>
                        <a:pt x="0" y="35155"/>
                        <a:pt x="5041" y="22986"/>
                        <a:pt x="14013" y="14013"/>
                      </a:cubicBezTo>
                      <a:cubicBezTo>
                        <a:pt x="22986" y="5041"/>
                        <a:pt x="35155" y="0"/>
                        <a:pt x="478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5" name="TextBox 8">
                  <a:extLst>
                    <a:ext uri="{FF2B5EF4-FFF2-40B4-BE49-F238E27FC236}">
                      <a16:creationId xmlns:a16="http://schemas.microsoft.com/office/drawing/2014/main" id="{FE463244-F47F-3821-BE55-5DCE29FDCCFD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52355" cy="112963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111"/>
                    </a:lnSpc>
                  </a:pPr>
                  <a:endParaRPr/>
                </a:p>
              </p:txBody>
            </p:sp>
          </p:grpSp>
          <p:sp>
            <p:nvSpPr>
              <p:cNvPr id="12" name="TextBox 10">
                <a:extLst>
                  <a:ext uri="{FF2B5EF4-FFF2-40B4-BE49-F238E27FC236}">
                    <a16:creationId xmlns:a16="http://schemas.microsoft.com/office/drawing/2014/main" id="{25A88F05-7BD2-8E10-D862-BCD3C5D4D80F}"/>
                  </a:ext>
                </a:extLst>
              </p:cNvPr>
              <p:cNvSpPr txBox="1"/>
              <p:nvPr/>
            </p:nvSpPr>
            <p:spPr>
              <a:xfrm>
                <a:off x="337807" y="692690"/>
                <a:ext cx="4378513" cy="17232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endPara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89F3E68F-ACA2-4494-E5B6-EDF4704111D7}"/>
                  </a:ext>
                </a:extLst>
              </p:cNvPr>
              <p:cNvSpPr txBox="1"/>
              <p:nvPr/>
            </p:nvSpPr>
            <p:spPr>
              <a:xfrm>
                <a:off x="-563605" y="472665"/>
                <a:ext cx="3595854" cy="23884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 dirty="0">
                    <a:solidFill>
                      <a:srgbClr val="010F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Director Table: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09EB836-2E1F-223F-67CA-7C2358BB2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51547" y="6571518"/>
              <a:ext cx="5856336" cy="2618510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2CC7CED6-1F76-EC2B-166A-E515983C41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837" y="1880007"/>
            <a:ext cx="6160060" cy="380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16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4C74-7F60-A474-0F16-37886694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443986-CAE0-7140-1EAF-5804322558B1}"/>
              </a:ext>
            </a:extLst>
          </p:cNvPr>
          <p:cNvSpPr/>
          <p:nvPr/>
        </p:nvSpPr>
        <p:spPr>
          <a:xfrm>
            <a:off x="-16329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79AD867-856E-3D51-8F6B-DAD98763A629}"/>
              </a:ext>
            </a:extLst>
          </p:cNvPr>
          <p:cNvSpPr txBox="1"/>
          <p:nvPr/>
        </p:nvSpPr>
        <p:spPr>
          <a:xfrm>
            <a:off x="1143000" y="1325807"/>
            <a:ext cx="4953000" cy="499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Diagram: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E0625C0-0730-D0A0-F074-784B9B8619FB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FBEEE18-6C28-F3E1-43CD-04F2DAE3AD27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FCF54D-6860-EA8A-3FBE-04E677447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02" y="2115576"/>
            <a:ext cx="8449097" cy="5313924"/>
          </a:xfrm>
          <a:prstGeom prst="rect">
            <a:avLst/>
          </a:prstGeom>
        </p:spPr>
      </p:pic>
      <p:pic>
        <p:nvPicPr>
          <p:cNvPr id="9" name="Picture 8" descr="er_diagram_bollywood.png">
            <a:extLst>
              <a:ext uri="{FF2B5EF4-FFF2-40B4-BE49-F238E27FC236}">
                <a16:creationId xmlns:a16="http://schemas.microsoft.com/office/drawing/2014/main" id="{D633E4A7-9647-884D-7B76-BDDCABC886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199" y="2071798"/>
            <a:ext cx="8229600" cy="6143403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C760139E-82B6-F90D-E48D-687D74224E6C}"/>
              </a:ext>
            </a:extLst>
          </p:cNvPr>
          <p:cNvSpPr txBox="1"/>
          <p:nvPr/>
        </p:nvSpPr>
        <p:spPr>
          <a:xfrm>
            <a:off x="10210800" y="1282030"/>
            <a:ext cx="4953000" cy="499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Relationship Diagram:</a:t>
            </a:r>
          </a:p>
        </p:txBody>
      </p:sp>
    </p:spTree>
    <p:extLst>
      <p:ext uri="{BB962C8B-B14F-4D97-AF65-F5344CB8AC3E}">
        <p14:creationId xmlns:p14="http://schemas.microsoft.com/office/powerpoint/2010/main" val="1007928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EAD3C-FC41-7C47-E79B-4582042B0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D3B744-61C0-E275-06F4-631E36E4015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4F649F9-9911-99F4-1427-8D1E42DB5D05}"/>
              </a:ext>
            </a:extLst>
          </p:cNvPr>
          <p:cNvSpPr txBox="1"/>
          <p:nvPr/>
        </p:nvSpPr>
        <p:spPr>
          <a:xfrm>
            <a:off x="3642799" y="4278408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ANALYSIS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E436165-4A5D-264E-29CB-6A2666B431DE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35E97E3-264B-545D-41E0-FBF350B9D1C9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58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5734-28B3-48D6-29D1-FEFF3C1E2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F783A0-38ED-3C32-5E4F-1CDED02BCF0F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9AF5D15-FC72-2D55-B956-47330C01CA7B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81E0E4D-D873-6F2A-2273-9F64DC857D8B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F4D4A01-3453-C009-E7A9-180D199C1D2D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466403D8-BAE9-5227-87E6-3859413C0D9F}"/>
              </a:ext>
            </a:extLst>
          </p:cNvPr>
          <p:cNvSpPr txBox="1"/>
          <p:nvPr/>
        </p:nvSpPr>
        <p:spPr>
          <a:xfrm>
            <a:off x="3352800" y="1109150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Cleansing</a:t>
            </a: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EAF03272-0374-B755-C286-AF3A99D27108}"/>
              </a:ext>
            </a:extLst>
          </p:cNvPr>
          <p:cNvGrpSpPr/>
          <p:nvPr/>
        </p:nvGrpSpPr>
        <p:grpSpPr>
          <a:xfrm>
            <a:off x="304800" y="2368787"/>
            <a:ext cx="17394335" cy="6377610"/>
            <a:chOff x="0" y="0"/>
            <a:chExt cx="4315045" cy="5525885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82630152-7436-CC0C-482C-0BA07970E16D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9529A74A-63B1-EF57-7CE2-651CFCCCED58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C1BD012C-9A82-390D-EE89-0FD82D4FB76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B0C675E0-57AA-6C4F-417C-0D811A7E9CAC}"/>
                </a:ext>
              </a:extLst>
            </p:cNvPr>
            <p:cNvSpPr txBox="1"/>
            <p:nvPr/>
          </p:nvSpPr>
          <p:spPr>
            <a:xfrm>
              <a:off x="332077" y="533131"/>
              <a:ext cx="3637094" cy="2079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B6BBF30F-914B-673D-7206-8BF924C7B6E0}"/>
                </a:ext>
              </a:extLst>
            </p:cNvPr>
            <p:cNvSpPr txBox="1"/>
            <p:nvPr/>
          </p:nvSpPr>
          <p:spPr>
            <a:xfrm>
              <a:off x="101266" y="197863"/>
              <a:ext cx="3595854" cy="288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Validation to Identify Duplicate:</a:t>
              </a:r>
            </a:p>
          </p:txBody>
        </p:sp>
      </p:grpSp>
      <p:sp>
        <p:nvSpPr>
          <p:cNvPr id="79" name="TextBox 11">
            <a:extLst>
              <a:ext uri="{FF2B5EF4-FFF2-40B4-BE49-F238E27FC236}">
                <a16:creationId xmlns:a16="http://schemas.microsoft.com/office/drawing/2014/main" id="{AB34BB35-8132-ECDB-B573-1AA0204E0C63}"/>
              </a:ext>
            </a:extLst>
          </p:cNvPr>
          <p:cNvSpPr txBox="1"/>
          <p:nvPr/>
        </p:nvSpPr>
        <p:spPr>
          <a:xfrm>
            <a:off x="1157918" y="1997881"/>
            <a:ext cx="12569713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of Director Dataset is done to check if there is any inconsistent data</a:t>
            </a:r>
            <a:endParaRPr lang="en-US" sz="14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BAA36F12-BC5F-D4A2-795A-0577306695EE}"/>
              </a:ext>
            </a:extLst>
          </p:cNvPr>
          <p:cNvSpPr txBox="1"/>
          <p:nvPr/>
        </p:nvSpPr>
        <p:spPr>
          <a:xfrm>
            <a:off x="565044" y="4686958"/>
            <a:ext cx="14495211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 Analysis of  Duplicate Data In Main Movie: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E7A7A6-E4EE-8385-0233-5B581A3E434A}"/>
              </a:ext>
            </a:extLst>
          </p:cNvPr>
          <p:cNvSpPr txBox="1"/>
          <p:nvPr/>
        </p:nvSpPr>
        <p:spPr>
          <a:xfrm>
            <a:off x="565044" y="5116673"/>
            <a:ext cx="94297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</a:t>
            </a:r>
            <a:r>
              <a:rPr lang="en-US" b="1" dirty="0"/>
              <a:t>checking if matching records exist in master table and deleting that data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B57D73-B65C-45CE-01AF-4C2ECA2ED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34" y="3002251"/>
            <a:ext cx="8603266" cy="15763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F6E440-B4FC-2A03-D248-2F651B186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7" y="5599972"/>
            <a:ext cx="15585247" cy="230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52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85191-36F0-E84F-F85B-A6F03E33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F53CBD-6091-0FF3-0AA1-14DDC773BE84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F96399B-F5A4-B1D8-C9DB-911E1076DF64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960AB81-5675-8019-8234-8719D224C651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89D6CB8-F939-852E-4715-B970F2D843D2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6E9D6EBD-79D7-D502-89EB-834023449A79}"/>
              </a:ext>
            </a:extLst>
          </p:cNvPr>
          <p:cNvSpPr txBox="1"/>
          <p:nvPr/>
        </p:nvSpPr>
        <p:spPr>
          <a:xfrm>
            <a:off x="3352800" y="1109150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Cleansing..</a:t>
            </a:r>
            <a:r>
              <a:rPr lang="en-US" sz="3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contd</a:t>
            </a:r>
            <a:endParaRPr lang="en-US" sz="3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3169AA6D-0816-5C1B-21E1-57738F3A71BD}"/>
              </a:ext>
            </a:extLst>
          </p:cNvPr>
          <p:cNvGrpSpPr/>
          <p:nvPr/>
        </p:nvGrpSpPr>
        <p:grpSpPr>
          <a:xfrm>
            <a:off x="304800" y="2350063"/>
            <a:ext cx="17394335" cy="6377610"/>
            <a:chOff x="0" y="0"/>
            <a:chExt cx="4315045" cy="5525885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924151E6-64F4-48B4-A499-C1213B056B65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60107303-BC21-9E32-B926-996216E54F15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4A0D822B-CA93-BF34-7738-7783DA01472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5AB7C1D8-159F-1025-6D1E-3BC40B1645A3}"/>
                </a:ext>
              </a:extLst>
            </p:cNvPr>
            <p:cNvSpPr txBox="1"/>
            <p:nvPr/>
          </p:nvSpPr>
          <p:spPr>
            <a:xfrm>
              <a:off x="332077" y="533131"/>
              <a:ext cx="3637094" cy="2079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79BB4B68-C10D-EAEB-BED0-41485ACB293D}"/>
                </a:ext>
              </a:extLst>
            </p:cNvPr>
            <p:cNvSpPr txBox="1"/>
            <p:nvPr/>
          </p:nvSpPr>
          <p:spPr>
            <a:xfrm>
              <a:off x="101266" y="197863"/>
              <a:ext cx="3595854" cy="288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Query to Delete Duplicate:</a:t>
              </a:r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D5DAA4F-2444-69EE-0482-372BFBEE7FAD}"/>
              </a:ext>
            </a:extLst>
          </p:cNvPr>
          <p:cNvSpPr txBox="1"/>
          <p:nvPr/>
        </p:nvSpPr>
        <p:spPr>
          <a:xfrm>
            <a:off x="713012" y="5289815"/>
            <a:ext cx="14495211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Verify The Deletion 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4BA618D-0A11-EAD5-4B28-6F6C64F8E2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08" y="3316750"/>
            <a:ext cx="14661453" cy="17035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1B6BD9-9905-62BE-9671-B81BCC2606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60" y="5871523"/>
            <a:ext cx="16166150" cy="117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96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84587-4411-0F51-83CF-77959672F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B742C3-4A0D-46A3-644D-29604B5D53BA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6AD7D06-0160-A41A-1872-D2315454EE9F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CEF6785-EC46-FE22-FB37-0FC2FE5BEA94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8B64754-4601-5F42-2B58-90210E0F5A30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0E5CF85B-40B4-BE88-D163-53B7F7DE256C}"/>
              </a:ext>
            </a:extLst>
          </p:cNvPr>
          <p:cNvSpPr txBox="1"/>
          <p:nvPr/>
        </p:nvSpPr>
        <p:spPr>
          <a:xfrm>
            <a:off x="3352800" y="1109150"/>
            <a:ext cx="11002403" cy="51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N" sz="3000" b="1" dirty="0">
                <a:solidFill>
                  <a:srgbClr val="FFFFFF"/>
                </a:solidFill>
                <a:latin typeface="Montserrat Bold"/>
              </a:rPr>
              <a:t>Descriptive Statistics</a:t>
            </a:r>
            <a:r>
              <a:rPr lang="en-US" sz="3000" b="1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3000" b="1" dirty="0">
              <a:solidFill>
                <a:srgbClr val="FFFFFF"/>
              </a:solidFill>
              <a:latin typeface="Montserrat Bold"/>
              <a:sym typeface="Montserrat Bold"/>
            </a:endParaRP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5D9AB777-3BEE-35E3-7502-C8879C85C2BA}"/>
              </a:ext>
            </a:extLst>
          </p:cNvPr>
          <p:cNvGrpSpPr/>
          <p:nvPr/>
        </p:nvGrpSpPr>
        <p:grpSpPr>
          <a:xfrm>
            <a:off x="304800" y="2361299"/>
            <a:ext cx="17394335" cy="6377610"/>
            <a:chOff x="0" y="0"/>
            <a:chExt cx="4315045" cy="5525885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431B55ED-1B4C-59A6-A872-9081954A6371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F7C41669-7330-E3D8-61DB-275F3AFAE27D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C734F8FF-D28D-AD95-AB33-101FE6C206C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CF48DC4C-A739-0E6C-F507-27EBFABFD68A}"/>
                </a:ext>
              </a:extLst>
            </p:cNvPr>
            <p:cNvSpPr txBox="1"/>
            <p:nvPr/>
          </p:nvSpPr>
          <p:spPr>
            <a:xfrm>
              <a:off x="332077" y="533131"/>
              <a:ext cx="3637094" cy="2079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55312830-CFED-3A07-3D9D-9AA9093F50C2}"/>
                </a:ext>
              </a:extLst>
            </p:cNvPr>
            <p:cNvSpPr txBox="1"/>
            <p:nvPr/>
          </p:nvSpPr>
          <p:spPr>
            <a:xfrm>
              <a:off x="101266" y="197863"/>
              <a:ext cx="3595854" cy="277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16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Generate Descriptive Data of Movie Table like segregating hits and flops, Span of release Years and Average Releases Per Year: 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EF9EBBD-62EE-2F98-9004-00E80F555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12" y="3266345"/>
            <a:ext cx="11326588" cy="411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90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9B09-B3E6-852C-6E65-E5F09F1F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D21B59-E596-2FA2-DC09-68CE3FCC433B}"/>
              </a:ext>
            </a:extLst>
          </p:cNvPr>
          <p:cNvSpPr/>
          <p:nvPr/>
        </p:nvSpPr>
        <p:spPr>
          <a:xfrm>
            <a:off x="0" y="16512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1524BC5-44CB-2CB7-CDD5-FE054DF34545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C15E0D5-9B4C-DE7D-C6B4-D628306F3FF0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52D8360-E8AE-261F-1703-4189CE1DF303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0FCAAA1A-9555-5540-2C98-06453AA0CAD0}"/>
              </a:ext>
            </a:extLst>
          </p:cNvPr>
          <p:cNvSpPr txBox="1"/>
          <p:nvPr/>
        </p:nvSpPr>
        <p:spPr>
          <a:xfrm>
            <a:off x="3352800" y="1109150"/>
            <a:ext cx="11002403" cy="51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N" sz="3000" b="1" dirty="0">
                <a:solidFill>
                  <a:srgbClr val="FFFFFF"/>
                </a:solidFill>
                <a:latin typeface="Montserrat Bold"/>
              </a:rPr>
              <a:t>Descriptive Statistics</a:t>
            </a:r>
            <a:r>
              <a:rPr lang="en-US" sz="3000" b="1" dirty="0">
                <a:solidFill>
                  <a:srgbClr val="FFFFFF"/>
                </a:solidFill>
                <a:latin typeface="Montserrat Bold"/>
              </a:rPr>
              <a:t>..</a:t>
            </a:r>
            <a:r>
              <a:rPr lang="en-US" sz="3000" b="1" dirty="0" err="1">
                <a:solidFill>
                  <a:srgbClr val="FFFFFF"/>
                </a:solidFill>
                <a:latin typeface="Montserrat Bold"/>
              </a:rPr>
              <a:t>contd</a:t>
            </a:r>
            <a:endParaRPr lang="en-US" sz="3000" b="1" dirty="0">
              <a:solidFill>
                <a:srgbClr val="FFFFFF"/>
              </a:solidFill>
              <a:latin typeface="Montserrat Bold"/>
              <a:sym typeface="Montserrat Bold"/>
            </a:endParaRP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6F5C387F-7415-5916-9F8F-5A816A2B4B0F}"/>
              </a:ext>
            </a:extLst>
          </p:cNvPr>
          <p:cNvGrpSpPr/>
          <p:nvPr/>
        </p:nvGrpSpPr>
        <p:grpSpPr>
          <a:xfrm>
            <a:off x="304800" y="2361299"/>
            <a:ext cx="17394335" cy="6377610"/>
            <a:chOff x="0" y="0"/>
            <a:chExt cx="4315045" cy="5525885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9DFAA98F-FB81-EB1F-342A-8A51A90AECCB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15D578F3-C1AF-2210-8524-CF2F1C533225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D2F31704-71AD-0021-1EA1-5F42A6E3F69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3C1653F3-2E3D-5303-7382-F34564AC6DEA}"/>
                </a:ext>
              </a:extLst>
            </p:cNvPr>
            <p:cNvSpPr txBox="1"/>
            <p:nvPr/>
          </p:nvSpPr>
          <p:spPr>
            <a:xfrm>
              <a:off x="332077" y="533131"/>
              <a:ext cx="3637094" cy="2079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" name="TextBox 11">
              <a:extLst>
                <a:ext uri="{FF2B5EF4-FFF2-40B4-BE49-F238E27FC236}">
                  <a16:creationId xmlns:a16="http://schemas.microsoft.com/office/drawing/2014/main" id="{F7775AC1-B564-6AB0-690F-BB8CD684AB60}"/>
                </a:ext>
              </a:extLst>
            </p:cNvPr>
            <p:cNvSpPr txBox="1"/>
            <p:nvPr/>
          </p:nvSpPr>
          <p:spPr>
            <a:xfrm>
              <a:off x="101266" y="197863"/>
              <a:ext cx="3595854" cy="288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2000" b="1" dirty="0">
                  <a:solidFill>
                    <a:srgbClr val="010F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 track the popularity of each genre based on the hit ratio based on Genre’s Popularity and Distribution: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FFC7136-5149-E387-6B0D-4942B1C2A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44" y="3128956"/>
            <a:ext cx="10048381" cy="452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61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BE47-51CD-AD8B-DEE6-0F6A2E162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888F6B-19B8-1A5A-2084-0842E49C67A1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591AD84-2E15-7351-EB00-42530833A71C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CA53E97-42E9-F67B-D6F8-DB9FB053E5EB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E57B06B-A278-C3D0-B400-B2CA868DA425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C1711B84-D948-8BEA-AE3A-65BB11048D89}"/>
              </a:ext>
            </a:extLst>
          </p:cNvPr>
          <p:cNvSpPr txBox="1"/>
          <p:nvPr/>
        </p:nvSpPr>
        <p:spPr>
          <a:xfrm>
            <a:off x="3352800" y="1109150"/>
            <a:ext cx="11002403" cy="51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N" sz="3000" b="1" dirty="0">
                <a:solidFill>
                  <a:schemeClr val="bg1"/>
                </a:solidFill>
                <a:latin typeface="Montserrat Bold"/>
              </a:rPr>
              <a:t>Aggregation and Grouping</a:t>
            </a:r>
            <a:r>
              <a:rPr lang="en-US" sz="3000" b="1" dirty="0">
                <a:solidFill>
                  <a:schemeClr val="bg1"/>
                </a:solidFill>
                <a:latin typeface="Montserrat Bold"/>
              </a:rPr>
              <a:t> </a:t>
            </a:r>
            <a:endParaRPr lang="en-US" sz="3000" b="1" dirty="0">
              <a:solidFill>
                <a:schemeClr val="bg1"/>
              </a:solidFill>
              <a:latin typeface="Montserrat Bold"/>
              <a:sym typeface="Montserrat Bold"/>
            </a:endParaRPr>
          </a:p>
        </p:txBody>
      </p:sp>
      <p:sp>
        <p:nvSpPr>
          <p:cNvPr id="79" name="TextBox 11">
            <a:extLst>
              <a:ext uri="{FF2B5EF4-FFF2-40B4-BE49-F238E27FC236}">
                <a16:creationId xmlns:a16="http://schemas.microsoft.com/office/drawing/2014/main" id="{AB7EAE7B-8F46-16C3-72AA-763352CC493E}"/>
              </a:ext>
            </a:extLst>
          </p:cNvPr>
          <p:cNvSpPr txBox="1"/>
          <p:nvPr/>
        </p:nvSpPr>
        <p:spPr>
          <a:xfrm>
            <a:off x="1157918" y="1997881"/>
            <a:ext cx="12569713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 Topmost Actors with Highest Number Hits:</a:t>
            </a:r>
            <a:endParaRPr lang="en-US" sz="14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06FE0F-1712-198C-3214-8D70859F8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050" y="2624965"/>
            <a:ext cx="9522750" cy="696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67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138C-0ECD-AAED-4880-231EEA71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BBA7CC-C2FE-F2D6-EC62-F02BF83F63BE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A2C9C10-1DE6-825B-D964-9D50F8B70F60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71C2AA0-6435-F6C1-7B86-09BF9DBA572E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6F7CCA5-2243-5527-41F9-83D79892BAA9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E18B7382-08F2-6D6B-405D-86C634BFEC14}"/>
              </a:ext>
            </a:extLst>
          </p:cNvPr>
          <p:cNvSpPr txBox="1"/>
          <p:nvPr/>
        </p:nvSpPr>
        <p:spPr>
          <a:xfrm>
            <a:off x="3352800" y="1109150"/>
            <a:ext cx="11002403" cy="51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N" sz="3000" b="1" dirty="0">
                <a:solidFill>
                  <a:schemeClr val="bg1"/>
                </a:solidFill>
                <a:latin typeface="Montserrat Bold"/>
              </a:rPr>
              <a:t>Joins and Relationships</a:t>
            </a:r>
            <a:r>
              <a:rPr lang="en-US" sz="3000" b="1" dirty="0">
                <a:solidFill>
                  <a:schemeClr val="bg1"/>
                </a:solidFill>
                <a:latin typeface="Montserrat Bold"/>
              </a:rPr>
              <a:t>  </a:t>
            </a:r>
            <a:endParaRPr lang="en-US" sz="3000" b="1" dirty="0">
              <a:solidFill>
                <a:schemeClr val="bg1"/>
              </a:solidFill>
              <a:latin typeface="Montserrat Bold"/>
              <a:sym typeface="Montserrat Bold"/>
            </a:endParaRPr>
          </a:p>
        </p:txBody>
      </p:sp>
      <p:sp>
        <p:nvSpPr>
          <p:cNvPr id="79" name="TextBox 11">
            <a:extLst>
              <a:ext uri="{FF2B5EF4-FFF2-40B4-BE49-F238E27FC236}">
                <a16:creationId xmlns:a16="http://schemas.microsoft.com/office/drawing/2014/main" id="{CA7C5543-0CD2-CF62-A904-94414777D1F4}"/>
              </a:ext>
            </a:extLst>
          </p:cNvPr>
          <p:cNvSpPr txBox="1"/>
          <p:nvPr/>
        </p:nvSpPr>
        <p:spPr>
          <a:xfrm>
            <a:off x="1069050" y="2041575"/>
            <a:ext cx="12569713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Movies with Actor and Director Rankings to List Movies acted by Highest Rated Actors :</a:t>
            </a:r>
            <a:endParaRPr lang="en-US" sz="14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8D6B95-B355-7DEF-7484-FCDEBE7B94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50" y="2456627"/>
            <a:ext cx="12904762" cy="75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676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42E67-6306-C0B2-950D-F363BF52E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9B8DF2-EC87-2410-DAE0-716700A3F1E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AB426B4-C2C4-C32F-756E-FBEBDDDCB59E}"/>
              </a:ext>
            </a:extLst>
          </p:cNvPr>
          <p:cNvSpPr txBox="1"/>
          <p:nvPr/>
        </p:nvSpPr>
        <p:spPr>
          <a:xfrm>
            <a:off x="3642799" y="4278408"/>
            <a:ext cx="11002403" cy="51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N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SUBQUERIES AND CTE’s </a:t>
            </a:r>
            <a:endParaRPr lang="en-US" sz="32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DC24C50-2BB5-2758-E72E-98802AE793AB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02AAD2E-C29B-71C9-1B5B-18E9FAB18D82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4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A53A-52DD-C9BB-5E27-930EE5281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C43B4C-2FA6-F3DD-0C65-B2F98934C5E0}"/>
              </a:ext>
            </a:extLst>
          </p:cNvPr>
          <p:cNvSpPr/>
          <p:nvPr/>
        </p:nvSpPr>
        <p:spPr>
          <a:xfrm>
            <a:off x="-13252" y="22145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C225903-5BF8-768F-F273-12454E0BACFB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0684001-15BF-A0BE-8D0F-BC20FC2D213E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CCB493-584C-F5A7-6E31-463C47CBCA6D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9" name="TextBox 11">
            <a:extLst>
              <a:ext uri="{FF2B5EF4-FFF2-40B4-BE49-F238E27FC236}">
                <a16:creationId xmlns:a16="http://schemas.microsoft.com/office/drawing/2014/main" id="{0FF22E75-B956-3D34-74CF-4E737F72EC5C}"/>
              </a:ext>
            </a:extLst>
          </p:cNvPr>
          <p:cNvSpPr txBox="1"/>
          <p:nvPr/>
        </p:nvSpPr>
        <p:spPr>
          <a:xfrm>
            <a:off x="609600" y="952500"/>
            <a:ext cx="12569713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Get the Directors who are probably going to give Hit Movies based on past history:</a:t>
            </a:r>
            <a:endParaRPr lang="en-US" sz="14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2847495-33DD-12A7-BA81-19F945B4A6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33C8AB-E849-6747-5D0B-DD8F754F53D7}"/>
              </a:ext>
            </a:extLst>
          </p:cNvPr>
          <p:cNvGrpSpPr/>
          <p:nvPr/>
        </p:nvGrpSpPr>
        <p:grpSpPr>
          <a:xfrm>
            <a:off x="39756" y="2812197"/>
            <a:ext cx="7861852" cy="6312738"/>
            <a:chOff x="304801" y="2350062"/>
            <a:chExt cx="7861852" cy="6312738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EC23A2B0-DA36-539A-66D3-7C336DEBE64A}"/>
                </a:ext>
              </a:extLst>
            </p:cNvPr>
            <p:cNvGrpSpPr/>
            <p:nvPr/>
          </p:nvGrpSpPr>
          <p:grpSpPr>
            <a:xfrm>
              <a:off x="304801" y="2350062"/>
              <a:ext cx="7861852" cy="6247863"/>
              <a:chOff x="0" y="0"/>
              <a:chExt cx="4315045" cy="5525885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8809BD77-B634-7242-B410-218D53EA70B8}"/>
                  </a:ext>
                </a:extLst>
              </p:cNvPr>
              <p:cNvGrpSpPr/>
              <p:nvPr/>
            </p:nvGrpSpPr>
            <p:grpSpPr>
              <a:xfrm>
                <a:off x="0" y="0"/>
                <a:ext cx="4315045" cy="5525885"/>
                <a:chOff x="0" y="0"/>
                <a:chExt cx="852355" cy="1091533"/>
              </a:xfrm>
            </p:grpSpPr>
            <p:sp>
              <p:nvSpPr>
                <p:cNvPr id="13" name="Freeform 7">
                  <a:extLst>
                    <a:ext uri="{FF2B5EF4-FFF2-40B4-BE49-F238E27FC236}">
                      <a16:creationId xmlns:a16="http://schemas.microsoft.com/office/drawing/2014/main" id="{B6044A86-FAD2-EBE6-16E1-E2D36E9D451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52355" cy="1091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355" h="1091533">
                      <a:moveTo>
                        <a:pt x="47845" y="0"/>
                      </a:moveTo>
                      <a:lnTo>
                        <a:pt x="804510" y="0"/>
                      </a:lnTo>
                      <a:cubicBezTo>
                        <a:pt x="817199" y="0"/>
                        <a:pt x="829369" y="5041"/>
                        <a:pt x="838341" y="14013"/>
                      </a:cubicBezTo>
                      <a:cubicBezTo>
                        <a:pt x="847314" y="22986"/>
                        <a:pt x="852355" y="35155"/>
                        <a:pt x="852355" y="47845"/>
                      </a:cubicBezTo>
                      <a:lnTo>
                        <a:pt x="852355" y="1043688"/>
                      </a:lnTo>
                      <a:cubicBezTo>
                        <a:pt x="852355" y="1056378"/>
                        <a:pt x="847314" y="1068547"/>
                        <a:pt x="838341" y="1077520"/>
                      </a:cubicBezTo>
                      <a:cubicBezTo>
                        <a:pt x="829369" y="1086492"/>
                        <a:pt x="817199" y="1091533"/>
                        <a:pt x="804510" y="1091533"/>
                      </a:cubicBezTo>
                      <a:lnTo>
                        <a:pt x="47845" y="1091533"/>
                      </a:lnTo>
                      <a:cubicBezTo>
                        <a:pt x="35155" y="1091533"/>
                        <a:pt x="22986" y="1086492"/>
                        <a:pt x="14013" y="1077520"/>
                      </a:cubicBezTo>
                      <a:cubicBezTo>
                        <a:pt x="5041" y="1068547"/>
                        <a:pt x="0" y="1056378"/>
                        <a:pt x="0" y="1043688"/>
                      </a:cubicBezTo>
                      <a:lnTo>
                        <a:pt x="0" y="47845"/>
                      </a:lnTo>
                      <a:cubicBezTo>
                        <a:pt x="0" y="35155"/>
                        <a:pt x="5041" y="22986"/>
                        <a:pt x="14013" y="14013"/>
                      </a:cubicBezTo>
                      <a:cubicBezTo>
                        <a:pt x="22986" y="5041"/>
                        <a:pt x="35155" y="0"/>
                        <a:pt x="478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" name="TextBox 8">
                  <a:extLst>
                    <a:ext uri="{FF2B5EF4-FFF2-40B4-BE49-F238E27FC236}">
                      <a16:creationId xmlns:a16="http://schemas.microsoft.com/office/drawing/2014/main" id="{C6C5A3FA-68E2-8F6D-B3D9-F3A4F0CF6457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52355" cy="112963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111"/>
                    </a:lnSpc>
                  </a:pPr>
                  <a:endParaRPr/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A5C7F-27C5-D199-F61E-CD9F376EA758}"/>
                  </a:ext>
                </a:extLst>
              </p:cNvPr>
              <p:cNvSpPr txBox="1"/>
              <p:nvPr/>
            </p:nvSpPr>
            <p:spPr>
              <a:xfrm>
                <a:off x="332077" y="533131"/>
                <a:ext cx="3637094" cy="20795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endPara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0C6925-B597-E8FC-0956-3046EC2266F8}"/>
                </a:ext>
              </a:extLst>
            </p:cNvPr>
            <p:cNvSpPr txBox="1"/>
            <p:nvPr/>
          </p:nvSpPr>
          <p:spPr>
            <a:xfrm>
              <a:off x="388032" y="2414936"/>
              <a:ext cx="7695390" cy="6247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WITH </a:t>
              </a:r>
              <a:r>
                <a:rPr lang="en-US" sz="1600" dirty="0" err="1"/>
                <a:t>DirectorHitRate</a:t>
              </a:r>
              <a:r>
                <a:rPr lang="en-US" sz="1600" dirty="0"/>
                <a:t> AS (</a:t>
              </a:r>
            </a:p>
            <a:p>
              <a:r>
                <a:rPr lang="en-US" sz="1600" dirty="0"/>
                <a:t>    SELECT </a:t>
              </a:r>
            </a:p>
            <a:p>
              <a:r>
                <a:rPr lang="en-US" sz="1600" dirty="0"/>
                <a:t>        </a:t>
              </a:r>
              <a:r>
                <a:rPr lang="en-US" sz="1600" dirty="0" err="1"/>
                <a:t>d.directorid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    </a:t>
              </a:r>
              <a:r>
                <a:rPr lang="en-US" sz="1600" dirty="0" err="1"/>
                <a:t>d.directorname</a:t>
              </a:r>
              <a:r>
                <a:rPr lang="en-US" sz="1600" dirty="0"/>
                <a:t> AS </a:t>
              </a:r>
              <a:r>
                <a:rPr lang="en-US" sz="1600" dirty="0" err="1"/>
                <a:t>DirectorName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    #Round(AVG(</a:t>
              </a:r>
              <a:r>
                <a:rPr lang="en-US" sz="1600" dirty="0" err="1"/>
                <a:t>m.hitFlop</a:t>
              </a:r>
              <a:r>
                <a:rPr lang="en-US" sz="1600" dirty="0"/>
                <a:t>),0) AS </a:t>
              </a:r>
              <a:r>
                <a:rPr lang="en-US" sz="1600" dirty="0" err="1"/>
                <a:t>Avg_HitRate</a:t>
              </a:r>
              <a:endParaRPr lang="en-US" sz="1600" dirty="0"/>
            </a:p>
            <a:p>
              <a:r>
                <a:rPr lang="en-US" sz="1600" dirty="0"/>
                <a:t>        AVG(</a:t>
              </a:r>
              <a:r>
                <a:rPr lang="en-US" sz="1600" dirty="0" err="1"/>
                <a:t>m.hitFlop</a:t>
              </a:r>
              <a:r>
                <a:rPr lang="en-US" sz="1600" dirty="0"/>
                <a:t>) AS </a:t>
              </a:r>
              <a:r>
                <a:rPr lang="en-US" sz="1600" dirty="0" err="1"/>
                <a:t>Avg_HitRate</a:t>
              </a:r>
              <a:endParaRPr lang="en-US" sz="1600" dirty="0"/>
            </a:p>
            <a:p>
              <a:r>
                <a:rPr lang="en-US" sz="1600" dirty="0"/>
                <a:t>    FROM movie m</a:t>
              </a:r>
            </a:p>
            <a:p>
              <a:r>
                <a:rPr lang="en-US" sz="1600" dirty="0"/>
                <a:t>    JOIN director d ON </a:t>
              </a:r>
              <a:r>
                <a:rPr lang="en-US" sz="1600" dirty="0" err="1"/>
                <a:t>m.director_id</a:t>
              </a:r>
              <a:r>
                <a:rPr lang="en-US" sz="1600" dirty="0"/>
                <a:t> = </a:t>
              </a:r>
              <a:r>
                <a:rPr lang="en-US" sz="1600" dirty="0" err="1"/>
                <a:t>d.directorid</a:t>
              </a:r>
              <a:endParaRPr lang="en-US" sz="1600" dirty="0"/>
            </a:p>
            <a:p>
              <a:r>
                <a:rPr lang="en-US" sz="1600" dirty="0"/>
                <a:t>    GROUP BY </a:t>
              </a:r>
              <a:r>
                <a:rPr lang="en-US" sz="1600" dirty="0" err="1"/>
                <a:t>d.directorid</a:t>
              </a:r>
              <a:r>
                <a:rPr lang="en-US" sz="1600" dirty="0"/>
                <a:t>, </a:t>
              </a:r>
              <a:r>
                <a:rPr lang="en-US" sz="1600" dirty="0" err="1"/>
                <a:t>d.directorname</a:t>
              </a:r>
              <a:endParaRPr lang="en-US" sz="1600" dirty="0"/>
            </a:p>
            <a:p>
              <a:r>
                <a:rPr lang="en-US" sz="1600" dirty="0"/>
                <a:t>),</a:t>
              </a:r>
            </a:p>
            <a:p>
              <a:r>
                <a:rPr lang="en-US" sz="1600" dirty="0" err="1"/>
                <a:t>MovieWithDeviation</a:t>
              </a:r>
              <a:r>
                <a:rPr lang="en-US" sz="1600" dirty="0"/>
                <a:t> AS (</a:t>
              </a:r>
            </a:p>
            <a:p>
              <a:r>
                <a:rPr lang="en-US" sz="1600" dirty="0"/>
                <a:t>    SELECT </a:t>
              </a:r>
            </a:p>
            <a:p>
              <a:r>
                <a:rPr lang="en-US" sz="1600" dirty="0"/>
                <a:t>        </a:t>
              </a:r>
              <a:r>
                <a:rPr lang="en-US" sz="1600" dirty="0" err="1"/>
                <a:t>m.title</a:t>
              </a:r>
              <a:r>
                <a:rPr lang="en-US" sz="1600" dirty="0"/>
                <a:t> as </a:t>
              </a:r>
              <a:r>
                <a:rPr lang="en-US" sz="1600" dirty="0" err="1"/>
                <a:t>Movie_Title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    </a:t>
              </a:r>
              <a:r>
                <a:rPr lang="en-US" sz="1600" dirty="0" err="1"/>
                <a:t>m.releaseYear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    </a:t>
              </a:r>
              <a:r>
                <a:rPr lang="en-US" sz="1600" dirty="0" err="1"/>
                <a:t>d.DirectorName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    </a:t>
              </a:r>
              <a:r>
                <a:rPr lang="en-US" sz="1600" dirty="0" err="1"/>
                <a:t>m.hitFlop</a:t>
              </a:r>
              <a:r>
                <a:rPr lang="en-US" sz="1600" dirty="0"/>
                <a:t> as </a:t>
              </a:r>
              <a:r>
                <a:rPr lang="en-US" sz="1600" dirty="0" err="1"/>
                <a:t>Movie_Hit_Rank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    </a:t>
              </a:r>
              <a:r>
                <a:rPr lang="en-US" sz="1600" dirty="0" err="1"/>
                <a:t>d.Avg_HitRate</a:t>
              </a:r>
              <a:r>
                <a:rPr lang="en-US" sz="1600" dirty="0"/>
                <a:t> as </a:t>
              </a:r>
              <a:r>
                <a:rPr lang="en-US" sz="1600" dirty="0" err="1"/>
                <a:t>Hit_Rate_Director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    </a:t>
              </a:r>
              <a:r>
                <a:rPr lang="en-US" sz="1600" dirty="0" err="1"/>
                <a:t>m.hitFlop</a:t>
              </a:r>
              <a:r>
                <a:rPr lang="en-US" sz="1600" dirty="0"/>
                <a:t> - </a:t>
              </a:r>
              <a:r>
                <a:rPr lang="en-US" sz="1600" dirty="0" err="1"/>
                <a:t>d.Avg_HitRate</a:t>
              </a:r>
              <a:r>
                <a:rPr lang="en-US" sz="1600" dirty="0"/>
                <a:t> AS </a:t>
              </a:r>
              <a:r>
                <a:rPr lang="en-US" sz="1600" dirty="0" err="1"/>
                <a:t>HitRate_Deviation</a:t>
              </a:r>
              <a:endParaRPr lang="en-US" sz="1600" dirty="0"/>
            </a:p>
            <a:p>
              <a:r>
                <a:rPr lang="en-US" sz="1600" dirty="0"/>
                <a:t>    FROM movie m</a:t>
              </a:r>
            </a:p>
            <a:p>
              <a:r>
                <a:rPr lang="en-US" sz="1600" dirty="0"/>
                <a:t>    JOIN </a:t>
              </a:r>
              <a:r>
                <a:rPr lang="en-US" sz="1600" dirty="0" err="1"/>
                <a:t>DirectorHitRate</a:t>
              </a:r>
              <a:r>
                <a:rPr lang="en-US" sz="1600" dirty="0"/>
                <a:t> d ON </a:t>
              </a:r>
              <a:r>
                <a:rPr lang="en-US" sz="1600" dirty="0" err="1"/>
                <a:t>m.director_id</a:t>
              </a:r>
              <a:r>
                <a:rPr lang="en-US" sz="1600" dirty="0"/>
                <a:t> = </a:t>
              </a:r>
              <a:r>
                <a:rPr lang="en-US" sz="1600" dirty="0" err="1"/>
                <a:t>d.directorid</a:t>
              </a:r>
              <a:endParaRPr lang="en-US" sz="1600" dirty="0"/>
            </a:p>
            <a:p>
              <a:r>
                <a:rPr lang="en-US" sz="1600" dirty="0"/>
                <a:t>)</a:t>
              </a:r>
            </a:p>
            <a:p>
              <a:r>
                <a:rPr lang="en-US" sz="1600" dirty="0"/>
                <a:t>SELECT *</a:t>
              </a:r>
            </a:p>
            <a:p>
              <a:r>
                <a:rPr lang="en-US" sz="1600" dirty="0"/>
                <a:t>FROM </a:t>
              </a:r>
              <a:r>
                <a:rPr lang="en-US" sz="1600" dirty="0" err="1"/>
                <a:t>MovieWithDeviation</a:t>
              </a:r>
              <a:endParaRPr lang="en-US" sz="1600" dirty="0"/>
            </a:p>
            <a:p>
              <a:r>
                <a:rPr lang="en-US" sz="1600" dirty="0"/>
                <a:t>WHERE ABS(</a:t>
              </a:r>
              <a:r>
                <a:rPr lang="en-US" sz="1600" dirty="0" err="1"/>
                <a:t>HitRate_Deviation</a:t>
              </a:r>
              <a:r>
                <a:rPr lang="en-US" sz="1600" dirty="0"/>
                <a:t>) &gt; 0.10 </a:t>
              </a:r>
            </a:p>
            <a:p>
              <a:r>
                <a:rPr lang="en-US" sz="1600" dirty="0"/>
                <a:t>ORDER BY </a:t>
              </a:r>
              <a:r>
                <a:rPr lang="en-US" sz="1600" dirty="0" err="1"/>
                <a:t>Movie_Hit_Rank</a:t>
              </a:r>
              <a:r>
                <a:rPr lang="en-US" sz="1600" dirty="0"/>
                <a:t> </a:t>
              </a:r>
              <a:r>
                <a:rPr lang="en-US" sz="1600" dirty="0" err="1"/>
                <a:t>desc,HitRate_Deviation</a:t>
              </a:r>
              <a:r>
                <a:rPr lang="en-US" sz="1600" dirty="0"/>
                <a:t> </a:t>
              </a:r>
              <a:r>
                <a:rPr lang="en-US" sz="1600" dirty="0" err="1"/>
                <a:t>desc,DirectorName</a:t>
              </a:r>
              <a:r>
                <a:rPr lang="en-US" sz="1600" dirty="0"/>
                <a:t>, </a:t>
              </a:r>
              <a:r>
                <a:rPr lang="en-US" sz="1600" dirty="0" err="1"/>
                <a:t>releaseYear</a:t>
              </a:r>
              <a:r>
                <a:rPr lang="en-US" sz="1600" dirty="0"/>
                <a:t>;</a:t>
              </a:r>
            </a:p>
          </p:txBody>
        </p:sp>
      </p:grpSp>
      <p:sp>
        <p:nvSpPr>
          <p:cNvPr id="18" name="TextBox 11">
            <a:extLst>
              <a:ext uri="{FF2B5EF4-FFF2-40B4-BE49-F238E27FC236}">
                <a16:creationId xmlns:a16="http://schemas.microsoft.com/office/drawing/2014/main" id="{83C2D494-A5F4-CB7A-E8B6-30FDE67358A8}"/>
              </a:ext>
            </a:extLst>
          </p:cNvPr>
          <p:cNvSpPr txBox="1"/>
          <p:nvPr/>
        </p:nvSpPr>
        <p:spPr>
          <a:xfrm>
            <a:off x="122987" y="2280778"/>
            <a:ext cx="1934413" cy="342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Query:</a:t>
            </a:r>
            <a:endParaRPr lang="en-US" sz="14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5774B9-34F2-2F4E-8413-14C0F3765A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933" y="2970880"/>
            <a:ext cx="9987932" cy="6247862"/>
          </a:xfrm>
          <a:prstGeom prst="rect">
            <a:avLst/>
          </a:prstGeom>
        </p:spPr>
      </p:pic>
      <p:sp>
        <p:nvSpPr>
          <p:cNvPr id="21" name="TextBox 11">
            <a:extLst>
              <a:ext uri="{FF2B5EF4-FFF2-40B4-BE49-F238E27FC236}">
                <a16:creationId xmlns:a16="http://schemas.microsoft.com/office/drawing/2014/main" id="{AA50151A-A2AC-7AB2-E283-70AA4B27C822}"/>
              </a:ext>
            </a:extLst>
          </p:cNvPr>
          <p:cNvSpPr txBox="1"/>
          <p:nvPr/>
        </p:nvSpPr>
        <p:spPr>
          <a:xfrm>
            <a:off x="8451981" y="2399078"/>
            <a:ext cx="1934413" cy="342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Output:</a:t>
            </a:r>
            <a:endParaRPr lang="en-US" sz="14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81969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D16A-64EA-C9EB-D389-F85F6278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DB3B11-8FB5-FE68-9D0C-030E88A2787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1FA065F-97AA-1788-E22C-C54BCC0C7E3A}"/>
              </a:ext>
            </a:extLst>
          </p:cNvPr>
          <p:cNvSpPr txBox="1"/>
          <p:nvPr/>
        </p:nvSpPr>
        <p:spPr>
          <a:xfrm>
            <a:off x="3642799" y="4278408"/>
            <a:ext cx="11002403" cy="51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N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ADVANCED SQL FUNCTIONS </a:t>
            </a:r>
            <a:endParaRPr lang="en-US" sz="32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A510052-3A08-0139-0457-2E1D60B09C42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0B89107-12AF-9C2B-96C9-6961456F2981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36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4FE6-548D-7660-AA8D-40F48E1B9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EC8ECA-F06C-E5F7-A444-725B89F234F1}"/>
              </a:ext>
            </a:extLst>
          </p:cNvPr>
          <p:cNvSpPr/>
          <p:nvPr/>
        </p:nvSpPr>
        <p:spPr>
          <a:xfrm>
            <a:off x="-13252" y="22145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CD178D4-510A-84D9-5DC1-0E8AF26E2DC7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CB4BADA-5CF9-5629-E296-E419EFE4953D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0483619-772F-37F2-E16E-1C1A90009280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9" name="TextBox 11">
            <a:extLst>
              <a:ext uri="{FF2B5EF4-FFF2-40B4-BE49-F238E27FC236}">
                <a16:creationId xmlns:a16="http://schemas.microsoft.com/office/drawing/2014/main" id="{54A6BC6E-4EB7-B31D-F0D8-FB70EF24D97A}"/>
              </a:ext>
            </a:extLst>
          </p:cNvPr>
          <p:cNvSpPr txBox="1"/>
          <p:nvPr/>
        </p:nvSpPr>
        <p:spPr>
          <a:xfrm>
            <a:off x="609600" y="952500"/>
            <a:ext cx="12569713" cy="691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Rank movies by Hit/Flop per director for latest release of actors and calculate movie’s hit status to overall movie hit average</a:t>
            </a:r>
            <a:endParaRPr lang="en-US" sz="14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8952AFFE-4CA8-292B-BD67-638F6ED9C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D4C511-6DE3-38AE-C648-4DBC99649C43}"/>
              </a:ext>
            </a:extLst>
          </p:cNvPr>
          <p:cNvGrpSpPr/>
          <p:nvPr/>
        </p:nvGrpSpPr>
        <p:grpSpPr>
          <a:xfrm>
            <a:off x="39755" y="2812197"/>
            <a:ext cx="8113645" cy="6217503"/>
            <a:chOff x="304801" y="2350062"/>
            <a:chExt cx="7861852" cy="6247863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CC62087F-C9A2-CEA8-E3A2-CC49F25E2693}"/>
                </a:ext>
              </a:extLst>
            </p:cNvPr>
            <p:cNvGrpSpPr/>
            <p:nvPr/>
          </p:nvGrpSpPr>
          <p:grpSpPr>
            <a:xfrm>
              <a:off x="304801" y="2350062"/>
              <a:ext cx="7861852" cy="6247863"/>
              <a:chOff x="0" y="0"/>
              <a:chExt cx="4315045" cy="5525885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6A8432DD-9762-7A3C-5D41-45584B1663BC}"/>
                  </a:ext>
                </a:extLst>
              </p:cNvPr>
              <p:cNvGrpSpPr/>
              <p:nvPr/>
            </p:nvGrpSpPr>
            <p:grpSpPr>
              <a:xfrm>
                <a:off x="0" y="0"/>
                <a:ext cx="4315045" cy="5525885"/>
                <a:chOff x="0" y="0"/>
                <a:chExt cx="852355" cy="1091533"/>
              </a:xfrm>
            </p:grpSpPr>
            <p:sp>
              <p:nvSpPr>
                <p:cNvPr id="13" name="Freeform 7">
                  <a:extLst>
                    <a:ext uri="{FF2B5EF4-FFF2-40B4-BE49-F238E27FC236}">
                      <a16:creationId xmlns:a16="http://schemas.microsoft.com/office/drawing/2014/main" id="{4430B22F-6E68-17A1-6405-E60A6310F8C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52355" cy="1091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355" h="1091533">
                      <a:moveTo>
                        <a:pt x="47845" y="0"/>
                      </a:moveTo>
                      <a:lnTo>
                        <a:pt x="804510" y="0"/>
                      </a:lnTo>
                      <a:cubicBezTo>
                        <a:pt x="817199" y="0"/>
                        <a:pt x="829369" y="5041"/>
                        <a:pt x="838341" y="14013"/>
                      </a:cubicBezTo>
                      <a:cubicBezTo>
                        <a:pt x="847314" y="22986"/>
                        <a:pt x="852355" y="35155"/>
                        <a:pt x="852355" y="47845"/>
                      </a:cubicBezTo>
                      <a:lnTo>
                        <a:pt x="852355" y="1043688"/>
                      </a:lnTo>
                      <a:cubicBezTo>
                        <a:pt x="852355" y="1056378"/>
                        <a:pt x="847314" y="1068547"/>
                        <a:pt x="838341" y="1077520"/>
                      </a:cubicBezTo>
                      <a:cubicBezTo>
                        <a:pt x="829369" y="1086492"/>
                        <a:pt x="817199" y="1091533"/>
                        <a:pt x="804510" y="1091533"/>
                      </a:cubicBezTo>
                      <a:lnTo>
                        <a:pt x="47845" y="1091533"/>
                      </a:lnTo>
                      <a:cubicBezTo>
                        <a:pt x="35155" y="1091533"/>
                        <a:pt x="22986" y="1086492"/>
                        <a:pt x="14013" y="1077520"/>
                      </a:cubicBezTo>
                      <a:cubicBezTo>
                        <a:pt x="5041" y="1068547"/>
                        <a:pt x="0" y="1056378"/>
                        <a:pt x="0" y="1043688"/>
                      </a:cubicBezTo>
                      <a:lnTo>
                        <a:pt x="0" y="47845"/>
                      </a:lnTo>
                      <a:cubicBezTo>
                        <a:pt x="0" y="35155"/>
                        <a:pt x="5041" y="22986"/>
                        <a:pt x="14013" y="14013"/>
                      </a:cubicBezTo>
                      <a:cubicBezTo>
                        <a:pt x="22986" y="5041"/>
                        <a:pt x="35155" y="0"/>
                        <a:pt x="478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" name="TextBox 8">
                  <a:extLst>
                    <a:ext uri="{FF2B5EF4-FFF2-40B4-BE49-F238E27FC236}">
                      <a16:creationId xmlns:a16="http://schemas.microsoft.com/office/drawing/2014/main" id="{B0159D92-F1C7-9F45-674D-488E3DBABFE0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52355" cy="112963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111"/>
                    </a:lnSpc>
                  </a:pPr>
                  <a:endParaRPr/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A09AD3-9472-7FBA-8E75-C3CE8C0F84F6}"/>
                  </a:ext>
                </a:extLst>
              </p:cNvPr>
              <p:cNvSpPr txBox="1"/>
              <p:nvPr/>
            </p:nvSpPr>
            <p:spPr>
              <a:xfrm>
                <a:off x="332077" y="533131"/>
                <a:ext cx="3637094" cy="20795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endParaRPr lang="en-US" sz="1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A2CBE5F-551A-36B3-A733-FD4BDF3790B4}"/>
                </a:ext>
              </a:extLst>
            </p:cNvPr>
            <p:cNvSpPr txBox="1"/>
            <p:nvPr/>
          </p:nvSpPr>
          <p:spPr>
            <a:xfrm>
              <a:off x="388032" y="2414936"/>
              <a:ext cx="7695390" cy="3785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SELECT </a:t>
              </a:r>
            </a:p>
            <a:p>
              <a:r>
                <a:rPr lang="en-US" sz="1600" dirty="0"/>
                <a:t>    </a:t>
              </a:r>
              <a:r>
                <a:rPr lang="en-US" sz="1600" dirty="0" err="1"/>
                <a:t>m.title</a:t>
              </a:r>
              <a:r>
                <a:rPr lang="en-US" sz="1600" dirty="0"/>
                <a:t> as </a:t>
              </a:r>
              <a:r>
                <a:rPr lang="en-US" sz="1600" dirty="0" err="1"/>
                <a:t>Movie_Title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</a:t>
              </a:r>
              <a:r>
                <a:rPr lang="en-US" sz="1600" dirty="0" err="1"/>
                <a:t>m.releaseYear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</a:t>
              </a:r>
              <a:r>
                <a:rPr lang="en-US" sz="1600" dirty="0" err="1"/>
                <a:t>d.directorName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</a:t>
              </a:r>
              <a:r>
                <a:rPr lang="en-US" sz="1600" dirty="0" err="1"/>
                <a:t>a.actorName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    </a:t>
              </a:r>
              <a:r>
                <a:rPr lang="en-US" sz="1600" dirty="0" err="1"/>
                <a:t>m.hitFlop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RANK() OVER (PARTITION BY </a:t>
              </a:r>
              <a:r>
                <a:rPr lang="en-US" sz="1600" dirty="0" err="1"/>
                <a:t>m.director_id</a:t>
              </a:r>
              <a:r>
                <a:rPr lang="en-US" sz="1600" dirty="0"/>
                <a:t> ORDER BY </a:t>
              </a:r>
              <a:r>
                <a:rPr lang="en-US" sz="1600" dirty="0" err="1"/>
                <a:t>m.hitFlop</a:t>
              </a:r>
              <a:r>
                <a:rPr lang="en-US" sz="1600" dirty="0"/>
                <a:t> DESC) AS </a:t>
              </a:r>
              <a:r>
                <a:rPr lang="en-US" sz="1600" dirty="0" err="1"/>
                <a:t>movie_rank_within_director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ROW_NUMBER() OVER (PARTITION BY </a:t>
              </a:r>
              <a:r>
                <a:rPr lang="en-US" sz="1600" dirty="0" err="1"/>
                <a:t>m.actor_id</a:t>
              </a:r>
              <a:r>
                <a:rPr lang="en-US" sz="1600" dirty="0"/>
                <a:t> ORDER BY </a:t>
              </a:r>
              <a:r>
                <a:rPr lang="en-US" sz="1600" dirty="0" err="1"/>
                <a:t>m.releaseYear</a:t>
              </a:r>
              <a:r>
                <a:rPr lang="en-US" sz="1600" dirty="0"/>
                <a:t> DESC) AS </a:t>
              </a:r>
              <a:r>
                <a:rPr lang="en-US" sz="1600" dirty="0" err="1"/>
                <a:t>latest_movie_for_actor</a:t>
              </a:r>
              <a:r>
                <a:rPr lang="en-US" sz="1600" dirty="0"/>
                <a:t>,</a:t>
              </a:r>
            </a:p>
            <a:p>
              <a:r>
                <a:rPr lang="en-US" sz="1600" dirty="0"/>
                <a:t>ROUND(AVG(</a:t>
              </a:r>
              <a:r>
                <a:rPr lang="en-US" sz="1600" dirty="0" err="1"/>
                <a:t>m.hitFlop</a:t>
              </a:r>
              <a:r>
                <a:rPr lang="en-US" sz="1600" dirty="0"/>
                <a:t>) OVER (PARTITION BY </a:t>
              </a:r>
              <a:r>
                <a:rPr lang="en-US" sz="1600" dirty="0" err="1"/>
                <a:t>m.releaseyear</a:t>
              </a:r>
              <a:r>
                <a:rPr lang="en-US" sz="1600" dirty="0"/>
                <a:t>), 2) AS </a:t>
              </a:r>
              <a:r>
                <a:rPr lang="en-US" sz="1600" dirty="0" err="1"/>
                <a:t>overall_avg_hit_rate</a:t>
              </a:r>
              <a:endParaRPr lang="en-US" sz="1600" dirty="0"/>
            </a:p>
            <a:p>
              <a:r>
                <a:rPr lang="en-US" sz="1600" dirty="0"/>
                <a:t>FROM movie m</a:t>
              </a:r>
            </a:p>
            <a:p>
              <a:r>
                <a:rPr lang="en-US" sz="1600" dirty="0"/>
                <a:t>JOIN director d ON </a:t>
              </a:r>
              <a:r>
                <a:rPr lang="en-US" sz="1600" dirty="0" err="1"/>
                <a:t>m.director_id</a:t>
              </a:r>
              <a:r>
                <a:rPr lang="en-US" sz="1600" dirty="0"/>
                <a:t> = </a:t>
              </a:r>
              <a:r>
                <a:rPr lang="en-US" sz="1600" dirty="0" err="1"/>
                <a:t>d.directorId</a:t>
              </a:r>
              <a:endParaRPr lang="en-US" sz="1600" dirty="0"/>
            </a:p>
            <a:p>
              <a:r>
                <a:rPr lang="en-US" sz="1600" dirty="0"/>
                <a:t>JOIN actor a ON </a:t>
              </a:r>
              <a:r>
                <a:rPr lang="en-US" sz="1600" dirty="0" err="1"/>
                <a:t>m.actor_id</a:t>
              </a:r>
              <a:r>
                <a:rPr lang="en-US" sz="1600" dirty="0"/>
                <a:t> = </a:t>
              </a:r>
              <a:r>
                <a:rPr lang="en-US" sz="1600" dirty="0" err="1"/>
                <a:t>a.actorId</a:t>
              </a:r>
              <a:r>
                <a:rPr lang="en-US" sz="1600" dirty="0"/>
                <a:t> order by </a:t>
              </a:r>
              <a:r>
                <a:rPr lang="en-US" sz="1600" dirty="0" err="1"/>
                <a:t>releaseyear</a:t>
              </a:r>
              <a:r>
                <a:rPr lang="en-US" sz="1600" dirty="0"/>
                <a:t> </a:t>
              </a:r>
              <a:r>
                <a:rPr lang="en-US" sz="1600" dirty="0" err="1"/>
                <a:t>desc,directorName,actorname</a:t>
              </a:r>
              <a:r>
                <a:rPr lang="en-US" sz="1600" dirty="0"/>
                <a:t> desc, </a:t>
              </a:r>
              <a:r>
                <a:rPr lang="en-US" sz="1600" dirty="0" err="1"/>
                <a:t>hitflop</a:t>
              </a:r>
              <a:r>
                <a:rPr lang="en-US" sz="1600" dirty="0"/>
                <a:t>;;</a:t>
              </a:r>
            </a:p>
          </p:txBody>
        </p:sp>
      </p:grpSp>
      <p:sp>
        <p:nvSpPr>
          <p:cNvPr id="18" name="TextBox 11">
            <a:extLst>
              <a:ext uri="{FF2B5EF4-FFF2-40B4-BE49-F238E27FC236}">
                <a16:creationId xmlns:a16="http://schemas.microsoft.com/office/drawing/2014/main" id="{53B6CFB6-898D-E7DB-425A-5B886B98C403}"/>
              </a:ext>
            </a:extLst>
          </p:cNvPr>
          <p:cNvSpPr txBox="1"/>
          <p:nvPr/>
        </p:nvSpPr>
        <p:spPr>
          <a:xfrm>
            <a:off x="122987" y="2280778"/>
            <a:ext cx="1934413" cy="342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Query:</a:t>
            </a:r>
            <a:endParaRPr lang="en-US" sz="14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032BC92A-EF90-5ADA-C170-A1E0A737C3D0}"/>
              </a:ext>
            </a:extLst>
          </p:cNvPr>
          <p:cNvSpPr txBox="1"/>
          <p:nvPr/>
        </p:nvSpPr>
        <p:spPr>
          <a:xfrm>
            <a:off x="9435548" y="2374230"/>
            <a:ext cx="1934413" cy="342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Output:</a:t>
            </a:r>
            <a:endParaRPr lang="en-US" sz="14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5D6A1B-E2F9-3B46-7AC9-E322599199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634" y="3020262"/>
            <a:ext cx="9312965" cy="593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63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8DCA7-B2E1-7324-BFD8-890C2249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D8F3A0-748D-46FF-5C8D-285754E49F4D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B70F63B-27B4-8567-1783-BC47A1D902D4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2EC07D9-F10F-5A51-BC3B-1282493223A9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456176E-48D8-12DB-2634-A9E94378D67B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3E0F954D-F98B-95DD-4C17-06F39472F9DA}"/>
              </a:ext>
            </a:extLst>
          </p:cNvPr>
          <p:cNvSpPr txBox="1"/>
          <p:nvPr/>
        </p:nvSpPr>
        <p:spPr>
          <a:xfrm>
            <a:off x="3352800" y="1109150"/>
            <a:ext cx="11002403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</a:t>
            </a: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4AC838D9-DCB0-CF11-2246-80567BCBC12A}"/>
              </a:ext>
            </a:extLst>
          </p:cNvPr>
          <p:cNvGrpSpPr/>
          <p:nvPr/>
        </p:nvGrpSpPr>
        <p:grpSpPr>
          <a:xfrm>
            <a:off x="609600" y="2781301"/>
            <a:ext cx="17394335" cy="6377610"/>
            <a:chOff x="0" y="0"/>
            <a:chExt cx="4315045" cy="5525885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307265E6-12AE-79B4-4754-8DCE897C2742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6CAD0E3C-E59C-6B70-1994-5D6390A0F562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E4F7F618-C8A9-2B92-20BC-85718CDD94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2546720E-16E1-FA7B-06F7-349C4F7FA76E}"/>
                </a:ext>
              </a:extLst>
            </p:cNvPr>
            <p:cNvSpPr txBox="1"/>
            <p:nvPr/>
          </p:nvSpPr>
          <p:spPr>
            <a:xfrm>
              <a:off x="338975" y="730839"/>
              <a:ext cx="3637094" cy="19008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342900" marR="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100" dirty="0">
                  <a:effectLst/>
                  <a:latin typeface="Segoe UI Emoji" panose="020B0502040204020203" pitchFamily="34" charset="0"/>
                  <a:ea typeface="Calibri" panose="020F0502020204030204" pitchFamily="34" charset="0"/>
                  <a:cs typeface="Segoe UI Emoji" panose="020B0502040204020203" pitchFamily="34" charset="0"/>
                </a:rPr>
                <a:t>🌟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</a:t>
              </a:r>
              <a:r>
                <a:rPr lang="en-IN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Aamir Khan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has the highest normalized actor rating (10.0).</a:t>
              </a:r>
              <a:endPara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marL="342900" marR="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100" dirty="0">
                  <a:effectLst/>
                  <a:latin typeface="Segoe UI Emoji" panose="020B0502040204020203" pitchFamily="34" charset="0"/>
                  <a:ea typeface="Calibri" panose="020F0502020204030204" pitchFamily="34" charset="0"/>
                  <a:cs typeface="Segoe UI Emoji" panose="020B0502040204020203" pitchFamily="34" charset="0"/>
                </a:rPr>
                <a:t>🎥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</a:t>
              </a:r>
              <a:r>
                <a:rPr lang="en-IN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Rajkumar Hirani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stands out as the highest-rated director.</a:t>
              </a:r>
              <a:endPara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marL="342900" marR="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100" dirty="0">
                  <a:effectLst/>
                  <a:latin typeface="Segoe UI Emoji" panose="020B0502040204020203" pitchFamily="34" charset="0"/>
                  <a:ea typeface="Calibri" panose="020F0502020204030204" pitchFamily="34" charset="0"/>
                  <a:cs typeface="Segoe UI Emoji" panose="020B0502040204020203" pitchFamily="34" charset="0"/>
                </a:rPr>
                <a:t>🏆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</a:t>
              </a:r>
              <a:r>
                <a:rPr lang="en-IN" sz="18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Gadar:Ek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pre katha, 3 Idiots, Pk, </a:t>
              </a:r>
              <a:r>
                <a:rPr lang="en-IN" sz="18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Dhoom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3 scored among the top in </a:t>
              </a:r>
              <a:r>
                <a:rPr lang="en-IN" sz="1800" kern="1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hitFlop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.</a:t>
              </a:r>
              <a:endPara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marL="342900" marR="0" lvl="0" indent="-342900">
                <a:lnSpc>
                  <a:spcPct val="115000"/>
                </a:lnSpc>
                <a:spcAft>
                  <a:spcPts val="800"/>
                </a:spcAft>
                <a:buSzPts val="1000"/>
                <a:buFont typeface="Symbol" pitchFamily="2" charset="2"/>
                <a:buChar char=""/>
                <a:tabLst>
                  <a:tab pos="457200" algn="l"/>
                </a:tabLst>
              </a:pPr>
              <a:r>
                <a:rPr lang="en-IN" sz="1800" kern="100" dirty="0">
                  <a:effectLst/>
                  <a:latin typeface="Segoe UI Emoji" panose="020B0502040204020203" pitchFamily="34" charset="0"/>
                  <a:ea typeface="Calibri" panose="020F0502020204030204" pitchFamily="34" charset="0"/>
                  <a:cs typeface="Segoe UI Emoji" panose="020B0502040204020203" pitchFamily="34" charset="0"/>
                </a:rPr>
                <a:t>⚠️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Data cleaning revealed missing writer entries in some records.</a:t>
              </a:r>
              <a:endPara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algn="ctr"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139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30F6C5-3863-1119-6B7D-5981DE0B8A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211FC76A-AAB7-62F2-3319-15C73C7697AC}"/>
              </a:ext>
            </a:extLst>
          </p:cNvPr>
          <p:cNvGrpSpPr/>
          <p:nvPr/>
        </p:nvGrpSpPr>
        <p:grpSpPr>
          <a:xfrm>
            <a:off x="609600" y="2781301"/>
            <a:ext cx="17394335" cy="6377610"/>
            <a:chOff x="0" y="0"/>
            <a:chExt cx="4315045" cy="5525885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6117DA34-EEFF-E588-DB88-1CEDC04AFF33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50B2FEE1-B17A-F11A-37C1-10E3FD8EB588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" name="TextBox 8">
                <a:extLst>
                  <a:ext uri="{FF2B5EF4-FFF2-40B4-BE49-F238E27FC236}">
                    <a16:creationId xmlns:a16="http://schemas.microsoft.com/office/drawing/2014/main" id="{C0F26739-B1FF-6ADF-F419-98DABEC74B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0E2F42CF-BF3A-16FA-6D87-5893CDD850A8}"/>
                </a:ext>
              </a:extLst>
            </p:cNvPr>
            <p:cNvSpPr txBox="1"/>
            <p:nvPr/>
          </p:nvSpPr>
          <p:spPr>
            <a:xfrm>
              <a:off x="298597" y="726258"/>
              <a:ext cx="3822274" cy="35000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3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Creating Final data insights utilizing TABLEAU public desktop</a:t>
              </a:r>
              <a:br>
                <a:rPr lang="en-US" sz="32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endParaRPr lang="en-US" sz="20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342900" indent="-3429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indent="-4572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 created a stack bar chart for top 5 movies on the basis of hit- flops</a:t>
              </a:r>
            </a:p>
            <a:p>
              <a:pPr marL="342900" indent="-3429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indent="-4572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 also created a line chart calculating year wise movie trend</a:t>
              </a:r>
            </a:p>
            <a:p>
              <a:pPr marL="457200" indent="-4572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indent="-4572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 created a heat map chart depicting the best actor and director combo. </a:t>
              </a:r>
            </a:p>
            <a:p>
              <a:pPr marL="457200" indent="-4572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indent="-4572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Scatter plot is created giving sequel performance as per hit flop score on the basis of release years.</a:t>
              </a:r>
            </a:p>
            <a:p>
              <a:pPr marL="457200" indent="-4572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indent="-457200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horizontal bar chart is created depicting average hit flop for top 15 actors.</a:t>
              </a:r>
            </a:p>
            <a:p>
              <a:pPr marL="457200" indent="-457200" algn="ctr">
                <a:lnSpc>
                  <a:spcPts val="2100"/>
                </a:lnSpc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2100"/>
                </a:lnSpc>
              </a:pPr>
              <a:br>
                <a:rPr lang="en-US" sz="2000" dirty="0">
                  <a:solidFill>
                    <a:srgbClr val="010F1F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endParaRPr lang="en-US" sz="20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4378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76468A4-7916-1002-A394-11AA2E881A6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368DA1-4E9E-C542-40D3-015B66D8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95500"/>
            <a:ext cx="16417407" cy="7854042"/>
          </a:xfrm>
          <a:prstGeom prst="rect">
            <a:avLst/>
          </a:prstGeom>
        </p:spPr>
      </p:pic>
      <p:sp>
        <p:nvSpPr>
          <p:cNvPr id="23" name="TextBox 3">
            <a:extLst>
              <a:ext uri="{FF2B5EF4-FFF2-40B4-BE49-F238E27FC236}">
                <a16:creationId xmlns:a16="http://schemas.microsoft.com/office/drawing/2014/main" id="{7FE5F9A9-D83C-E421-35E7-22DEC576A672}"/>
              </a:ext>
            </a:extLst>
          </p:cNvPr>
          <p:cNvSpPr txBox="1"/>
          <p:nvPr/>
        </p:nvSpPr>
        <p:spPr>
          <a:xfrm>
            <a:off x="1447800" y="647700"/>
            <a:ext cx="14554200" cy="993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TABLEAU public link - </a:t>
            </a:r>
            <a:r>
              <a:rPr lang="en-US" sz="16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https://public.tableau.com/app/profile/prashasti.srivastava/viz/Bollywood_Movies_Analysis/BollywoodMoviesAnalysis?publish=yes</a:t>
            </a:r>
          </a:p>
        </p:txBody>
      </p:sp>
    </p:spTree>
    <p:extLst>
      <p:ext uri="{BB962C8B-B14F-4D97-AF65-F5344CB8AC3E}">
        <p14:creationId xmlns:p14="http://schemas.microsoft.com/office/powerpoint/2010/main" val="3380036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93D8-2484-9DE7-35B1-21B7D29E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AB6FB0-2BC9-25F6-39B1-E5AF967DE103}"/>
              </a:ext>
            </a:extLst>
          </p:cNvPr>
          <p:cNvSpPr/>
          <p:nvPr/>
        </p:nvSpPr>
        <p:spPr>
          <a:xfrm>
            <a:off x="-6906" y="-326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F196692-F02A-07E1-3E51-C8D1A681C7B5}"/>
              </a:ext>
            </a:extLst>
          </p:cNvPr>
          <p:cNvSpPr txBox="1"/>
          <p:nvPr/>
        </p:nvSpPr>
        <p:spPr>
          <a:xfrm>
            <a:off x="304800" y="-177318"/>
            <a:ext cx="18288000" cy="10431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11"/>
              </a:lnSpc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BB62167-3C57-DDFD-2CC6-869EEAC8D2D8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2E7D67E-4D6C-AB06-AC7E-0B7C91CEA46A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15F18C86-58F3-948D-9FD5-DB0B081F2ACB}"/>
              </a:ext>
            </a:extLst>
          </p:cNvPr>
          <p:cNvSpPr txBox="1"/>
          <p:nvPr/>
        </p:nvSpPr>
        <p:spPr>
          <a:xfrm>
            <a:off x="3352800" y="1109150"/>
            <a:ext cx="11002403" cy="512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N" sz="3000" b="1" dirty="0">
                <a:solidFill>
                  <a:srgbClr val="FFFFFF"/>
                </a:solidFill>
                <a:latin typeface="Montserrat Bold"/>
              </a:rPr>
              <a:t>Conclusion</a:t>
            </a:r>
            <a:endParaRPr lang="en-US" sz="3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67" name="Group 5">
            <a:extLst>
              <a:ext uri="{FF2B5EF4-FFF2-40B4-BE49-F238E27FC236}">
                <a16:creationId xmlns:a16="http://schemas.microsoft.com/office/drawing/2014/main" id="{EB032F59-68F2-477F-881B-BEE4BE6F4EA9}"/>
              </a:ext>
            </a:extLst>
          </p:cNvPr>
          <p:cNvGrpSpPr/>
          <p:nvPr/>
        </p:nvGrpSpPr>
        <p:grpSpPr>
          <a:xfrm>
            <a:off x="609600" y="2781301"/>
            <a:ext cx="17394335" cy="6377610"/>
            <a:chOff x="0" y="0"/>
            <a:chExt cx="4315045" cy="5525885"/>
          </a:xfrm>
        </p:grpSpPr>
        <p:grpSp>
          <p:nvGrpSpPr>
            <p:cNvPr id="68" name="Group 6">
              <a:extLst>
                <a:ext uri="{FF2B5EF4-FFF2-40B4-BE49-F238E27FC236}">
                  <a16:creationId xmlns:a16="http://schemas.microsoft.com/office/drawing/2014/main" id="{80EDD8A9-176B-0020-9A35-03F41DF46B14}"/>
                </a:ext>
              </a:extLst>
            </p:cNvPr>
            <p:cNvGrpSpPr/>
            <p:nvPr/>
          </p:nvGrpSpPr>
          <p:grpSpPr>
            <a:xfrm>
              <a:off x="0" y="0"/>
              <a:ext cx="4315045" cy="5525885"/>
              <a:chOff x="0" y="0"/>
              <a:chExt cx="852355" cy="1091533"/>
            </a:xfrm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33F46BF4-A67E-DABD-92A5-C73E26F8B1C5}"/>
                  </a:ext>
                </a:extLst>
              </p:cNvPr>
              <p:cNvSpPr/>
              <p:nvPr/>
            </p:nvSpPr>
            <p:spPr>
              <a:xfrm>
                <a:off x="0" y="0"/>
                <a:ext cx="852355" cy="1091533"/>
              </a:xfrm>
              <a:custGeom>
                <a:avLst/>
                <a:gdLst/>
                <a:ahLst/>
                <a:cxnLst/>
                <a:rect l="l" t="t" r="r" b="b"/>
                <a:pathLst>
                  <a:path w="852355" h="1091533">
                    <a:moveTo>
                      <a:pt x="47845" y="0"/>
                    </a:moveTo>
                    <a:lnTo>
                      <a:pt x="804510" y="0"/>
                    </a:lnTo>
                    <a:cubicBezTo>
                      <a:pt x="817199" y="0"/>
                      <a:pt x="829369" y="5041"/>
                      <a:pt x="838341" y="14013"/>
                    </a:cubicBezTo>
                    <a:cubicBezTo>
                      <a:pt x="847314" y="22986"/>
                      <a:pt x="852355" y="35155"/>
                      <a:pt x="852355" y="47845"/>
                    </a:cubicBezTo>
                    <a:lnTo>
                      <a:pt x="852355" y="1043688"/>
                    </a:lnTo>
                    <a:cubicBezTo>
                      <a:pt x="852355" y="1056378"/>
                      <a:pt x="847314" y="1068547"/>
                      <a:pt x="838341" y="1077520"/>
                    </a:cubicBezTo>
                    <a:cubicBezTo>
                      <a:pt x="829369" y="1086492"/>
                      <a:pt x="817199" y="1091533"/>
                      <a:pt x="804510" y="1091533"/>
                    </a:cubicBezTo>
                    <a:lnTo>
                      <a:pt x="47845" y="1091533"/>
                    </a:lnTo>
                    <a:cubicBezTo>
                      <a:pt x="35155" y="1091533"/>
                      <a:pt x="22986" y="1086492"/>
                      <a:pt x="14013" y="1077520"/>
                    </a:cubicBezTo>
                    <a:cubicBezTo>
                      <a:pt x="5041" y="1068547"/>
                      <a:pt x="0" y="1056378"/>
                      <a:pt x="0" y="1043688"/>
                    </a:cubicBezTo>
                    <a:lnTo>
                      <a:pt x="0" y="47845"/>
                    </a:lnTo>
                    <a:cubicBezTo>
                      <a:pt x="0" y="35155"/>
                      <a:pt x="5041" y="22986"/>
                      <a:pt x="14013" y="14013"/>
                    </a:cubicBezTo>
                    <a:cubicBezTo>
                      <a:pt x="22986" y="5041"/>
                      <a:pt x="35155" y="0"/>
                      <a:pt x="478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TextBox 8">
                <a:extLst>
                  <a:ext uri="{FF2B5EF4-FFF2-40B4-BE49-F238E27FC236}">
                    <a16:creationId xmlns:a16="http://schemas.microsoft.com/office/drawing/2014/main" id="{A6C70D72-5E30-A024-E667-BB45A0E1971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52355" cy="1129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1"/>
                  </a:lnSpc>
                </a:pPr>
                <a:endParaRPr/>
              </a:p>
            </p:txBody>
          </p:sp>
        </p:grpSp>
        <p:sp>
          <p:nvSpPr>
            <p:cNvPr id="69" name="TextBox 10">
              <a:extLst>
                <a:ext uri="{FF2B5EF4-FFF2-40B4-BE49-F238E27FC236}">
                  <a16:creationId xmlns:a16="http://schemas.microsoft.com/office/drawing/2014/main" id="{7B646D4A-AE35-B07D-FDC6-320146C51197}"/>
                </a:ext>
              </a:extLst>
            </p:cNvPr>
            <p:cNvSpPr txBox="1"/>
            <p:nvPr/>
          </p:nvSpPr>
          <p:spPr>
            <a:xfrm>
              <a:off x="338975" y="730839"/>
              <a:ext cx="3637094" cy="14470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285750" marR="0" indent="-285750">
                <a:lnSpc>
                  <a:spcPct val="115000"/>
                </a:lnSpc>
                <a:spcAft>
                  <a:spcPts val="800"/>
                </a:spcAft>
                <a:buFont typeface="Wingdings" pitchFamily="2" charset="2"/>
                <a:buChar char="Ø"/>
              </a:pP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This project demonstrated how structured SQL queries and </a:t>
              </a:r>
              <a:r>
                <a:rPr lang="en-IN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interactive visual dashboards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can yield powerful insights from raw data.</a:t>
              </a:r>
            </a:p>
            <a:p>
              <a:pPr marL="285750" marR="0" indent="-285750">
                <a:lnSpc>
                  <a:spcPct val="115000"/>
                </a:lnSpc>
                <a:spcAft>
                  <a:spcPts val="800"/>
                </a:spcAft>
                <a:buFont typeface="Wingdings" pitchFamily="2" charset="2"/>
                <a:buChar char="Ø"/>
              </a:pP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The combination of </a:t>
              </a:r>
              <a:r>
                <a:rPr lang="en-IN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SQL for deep analysis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and </a:t>
              </a:r>
              <a:r>
                <a:rPr lang="en-IN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Tableau for storytelling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makes this a valuable template for </a:t>
              </a:r>
              <a:r>
                <a:rPr lang="en-IN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movie analytics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or </a:t>
              </a:r>
              <a:r>
                <a:rPr lang="en-IN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entertainment data analysis</a:t>
              </a:r>
              <a:r>
                <a: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rPr>
                <a:t> in general.</a:t>
              </a:r>
              <a:endPara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algn="ctr">
                <a:lnSpc>
                  <a:spcPts val="2100"/>
                </a:lnSpc>
              </a:pPr>
              <a:endParaRPr lang="en-US" sz="1200" dirty="0">
                <a:solidFill>
                  <a:srgbClr val="010F1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965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642799" y="1831657"/>
            <a:ext cx="1100240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LINK (GIT-HUB)</a:t>
            </a:r>
          </a:p>
        </p:txBody>
      </p:sp>
      <p:sp>
        <p:nvSpPr>
          <p:cNvPr id="4" name="Freeform 4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42799" y="4245480"/>
            <a:ext cx="11002403" cy="29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17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https://</a:t>
            </a:r>
            <a:r>
              <a:rPr lang="en-US" sz="17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github.com</a:t>
            </a:r>
            <a:r>
              <a:rPr lang="en-US" sz="17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/Prashasti9/PES_PDS_Group5_SQL_Project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443348" y="4427950"/>
            <a:ext cx="11401303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0"/>
              </a:lnSpc>
            </a:pPr>
            <a:r>
              <a:rPr lang="en-US" sz="6000" b="1" spc="22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2084</Words>
  <Application>Microsoft Office PowerPoint</Application>
  <PresentationFormat>Custom</PresentationFormat>
  <Paragraphs>245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Wingdings</vt:lpstr>
      <vt:lpstr>Arial</vt:lpstr>
      <vt:lpstr>Symbol</vt:lpstr>
      <vt:lpstr>Montserrat</vt:lpstr>
      <vt:lpstr>Calibri</vt:lpstr>
      <vt:lpstr>Bogle</vt:lpstr>
      <vt:lpstr>Montserrat Bold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Business Presentation</dc:title>
  <dc:creator>Prashasti</dc:creator>
  <cp:lastModifiedBy>shabanashariff.108@outlook.com</cp:lastModifiedBy>
  <cp:revision>25</cp:revision>
  <dcterms:created xsi:type="dcterms:W3CDTF">2006-08-16T00:00:00Z</dcterms:created>
  <dcterms:modified xsi:type="dcterms:W3CDTF">2025-05-02T13:21:51Z</dcterms:modified>
  <dc:identifier>DAGkLIsb4GM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24820e8-223f-4ed2-bd95-81c83f641284_Enabled">
    <vt:lpwstr>true</vt:lpwstr>
  </property>
  <property fmtid="{D5CDD505-2E9C-101B-9397-08002B2CF9AE}" pid="3" name="MSIP_Label_b24820e8-223f-4ed2-bd95-81c83f641284_SetDate">
    <vt:lpwstr>2025-05-01T15:37:22Z</vt:lpwstr>
  </property>
  <property fmtid="{D5CDD505-2E9C-101B-9397-08002B2CF9AE}" pid="4" name="MSIP_Label_b24820e8-223f-4ed2-bd95-81c83f641284_Method">
    <vt:lpwstr>Standard</vt:lpwstr>
  </property>
  <property fmtid="{D5CDD505-2E9C-101B-9397-08002B2CF9AE}" pid="5" name="MSIP_Label_b24820e8-223f-4ed2-bd95-81c83f641284_Name">
    <vt:lpwstr>b24820e8-223f-4ed2-bd95-81c83f641284</vt:lpwstr>
  </property>
  <property fmtid="{D5CDD505-2E9C-101B-9397-08002B2CF9AE}" pid="6" name="MSIP_Label_b24820e8-223f-4ed2-bd95-81c83f641284_SiteId">
    <vt:lpwstr>3cbcc3d3-094d-4006-9849-0d11d61f484d</vt:lpwstr>
  </property>
  <property fmtid="{D5CDD505-2E9C-101B-9397-08002B2CF9AE}" pid="7" name="MSIP_Label_b24820e8-223f-4ed2-bd95-81c83f641284_ActionId">
    <vt:lpwstr>513c0cc5-e713-478e-bb89-af891e65c77a</vt:lpwstr>
  </property>
  <property fmtid="{D5CDD505-2E9C-101B-9397-08002B2CF9AE}" pid="8" name="MSIP_Label_b24820e8-223f-4ed2-bd95-81c83f641284_ContentBits">
    <vt:lpwstr>0</vt:lpwstr>
  </property>
  <property fmtid="{D5CDD505-2E9C-101B-9397-08002B2CF9AE}" pid="9" name="MSIP_Label_b24820e8-223f-4ed2-bd95-81c83f641284_Tag">
    <vt:lpwstr>50, 3, 0, 1</vt:lpwstr>
  </property>
</Properties>
</file>