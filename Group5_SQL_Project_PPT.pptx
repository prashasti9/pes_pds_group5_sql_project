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80" r:id="rId6"/>
    <p:sldId id="279" r:id="rId7"/>
    <p:sldId id="275" r:id="rId8"/>
    <p:sldId id="281" r:id="rId9"/>
    <p:sldId id="282" r:id="rId10"/>
    <p:sldId id="283" r:id="rId11"/>
    <p:sldId id="276" r:id="rId12"/>
    <p:sldId id="289" r:id="rId13"/>
    <p:sldId id="292" r:id="rId14"/>
    <p:sldId id="290" r:id="rId15"/>
    <p:sldId id="291" r:id="rId16"/>
    <p:sldId id="293" r:id="rId17"/>
    <p:sldId id="284" r:id="rId18"/>
    <p:sldId id="285" r:id="rId19"/>
    <p:sldId id="288" r:id="rId20"/>
    <p:sldId id="273" r:id="rId21"/>
    <p:sldId id="274" r:id="rId22"/>
  </p:sldIdLst>
  <p:sldSz cx="18288000" cy="10287000"/>
  <p:notesSz cx="6858000" cy="9144000"/>
  <p:embeddedFontLst>
    <p:embeddedFont>
      <p:font typeface="Bogle" panose="020B0503020203060203" pitchFamily="34" charset="77"/>
      <p:regular r:id="rId23"/>
      <p:bold r:id="rId24"/>
      <p:italic r:id="rId25"/>
      <p:boldItalic r:id="rId26"/>
    </p:embeddedFont>
    <p:embeddedFont>
      <p:font typeface="Montserrat" pitchFamily="2" charset="77"/>
      <p:regular r:id="rId27"/>
      <p:bold r:id="rId28"/>
      <p:italic r:id="rId29"/>
      <p:boldItalic r:id="rId30"/>
    </p:embeddedFont>
    <p:embeddedFont>
      <p:font typeface="Montserrat Bold" pitchFamily="2" charset="77"/>
      <p:regular r:id="rId31"/>
      <p:bold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23" autoAdjust="0"/>
    <p:restoredTop sz="94610" autoAdjust="0"/>
  </p:normalViewPr>
  <p:slideViewPr>
    <p:cSldViewPr>
      <p:cViewPr varScale="1">
        <p:scale>
          <a:sx n="78" d="100"/>
          <a:sy n="78" d="100"/>
        </p:scale>
        <p:origin x="208" y="7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jpeg"/><Relationship Id="rId4" Type="http://schemas.openxmlformats.org/officeDocument/2006/relationships/image" Target="../media/image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2041016" y="2797542"/>
            <a:ext cx="13444109" cy="39754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80"/>
              </a:lnSpc>
            </a:pPr>
            <a:r>
              <a:rPr lang="en-US" sz="6000" b="1" spc="22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Comprehensive Analysis </a:t>
            </a:r>
          </a:p>
          <a:p>
            <a:pPr algn="ctr">
              <a:lnSpc>
                <a:spcPts val="6180"/>
              </a:lnSpc>
            </a:pPr>
            <a:r>
              <a:rPr lang="en-US" sz="6000" b="1" spc="22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of </a:t>
            </a:r>
          </a:p>
          <a:p>
            <a:pPr algn="ctr">
              <a:lnSpc>
                <a:spcPts val="6180"/>
              </a:lnSpc>
            </a:pPr>
            <a:r>
              <a:rPr lang="en-US" sz="6000" b="1" spc="22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BollyWood</a:t>
            </a:r>
            <a:r>
              <a:rPr lang="en-US" sz="6000" b="1" spc="22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Movies</a:t>
            </a:r>
          </a:p>
          <a:p>
            <a:pPr algn="ctr">
              <a:lnSpc>
                <a:spcPts val="6180"/>
              </a:lnSpc>
            </a:pPr>
            <a:endParaRPr lang="en-US" sz="6000" b="1" spc="22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l">
              <a:lnSpc>
                <a:spcPts val="6180"/>
              </a:lnSpc>
            </a:pPr>
            <a:endParaRPr lang="en-US" sz="6000" b="1" spc="22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777504" y="6735675"/>
            <a:ext cx="14732991" cy="2727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75"/>
              </a:lnSpc>
            </a:pPr>
            <a:r>
              <a:rPr lang="en-US" sz="3417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Group Members: Shabana Shariff, Prashasti Srivastava, Pradeep V, Sharmila S, Uttam Nandy</a:t>
            </a:r>
          </a:p>
          <a:p>
            <a:pPr algn="ctr">
              <a:lnSpc>
                <a:spcPts val="4275"/>
              </a:lnSpc>
            </a:pPr>
            <a:r>
              <a:rPr lang="en-US" sz="3417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Course: SQL (Python for Data Science)</a:t>
            </a:r>
          </a:p>
          <a:p>
            <a:pPr algn="ctr">
              <a:lnSpc>
                <a:spcPts val="4275"/>
              </a:lnSpc>
            </a:pPr>
            <a:r>
              <a:rPr lang="en-US" sz="3417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Date: April 2025</a:t>
            </a:r>
          </a:p>
          <a:p>
            <a:pPr algn="ctr">
              <a:lnSpc>
                <a:spcPts val="4275"/>
              </a:lnSpc>
            </a:pPr>
            <a:endParaRPr lang="en-US" sz="3417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-304800" y="478462"/>
            <a:ext cx="11002403" cy="903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algn="ctr">
              <a:lnSpc>
                <a:spcPts val="8400"/>
              </a:lnSpc>
            </a:pPr>
            <a:r>
              <a:rPr lang="en-US" sz="3000" b="1" u="sng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PROJECT OBJECTIVE AND OVERVIEW</a:t>
            </a:r>
          </a:p>
        </p:txBody>
      </p:sp>
      <p:sp>
        <p:nvSpPr>
          <p:cNvPr id="4" name="Freeform 4"/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A909A8F8-875A-1CB7-6ADA-CB84ED35303D}"/>
              </a:ext>
            </a:extLst>
          </p:cNvPr>
          <p:cNvSpPr/>
          <p:nvPr/>
        </p:nvSpPr>
        <p:spPr>
          <a:xfrm>
            <a:off x="446832" y="1795633"/>
            <a:ext cx="17394335" cy="8077200"/>
          </a:xfrm>
          <a:custGeom>
            <a:avLst/>
            <a:gdLst/>
            <a:ahLst/>
            <a:cxnLst/>
            <a:rect l="l" t="t" r="r" b="b"/>
            <a:pathLst>
              <a:path w="852355" h="1091533">
                <a:moveTo>
                  <a:pt x="47845" y="0"/>
                </a:moveTo>
                <a:lnTo>
                  <a:pt x="804510" y="0"/>
                </a:lnTo>
                <a:cubicBezTo>
                  <a:pt x="817199" y="0"/>
                  <a:pt x="829369" y="5041"/>
                  <a:pt x="838341" y="14013"/>
                </a:cubicBezTo>
                <a:cubicBezTo>
                  <a:pt x="847314" y="22986"/>
                  <a:pt x="852355" y="35155"/>
                  <a:pt x="852355" y="47845"/>
                </a:cubicBezTo>
                <a:lnTo>
                  <a:pt x="852355" y="1043688"/>
                </a:lnTo>
                <a:cubicBezTo>
                  <a:pt x="852355" y="1056378"/>
                  <a:pt x="847314" y="1068547"/>
                  <a:pt x="838341" y="1077520"/>
                </a:cubicBezTo>
                <a:cubicBezTo>
                  <a:pt x="829369" y="1086492"/>
                  <a:pt x="817199" y="1091533"/>
                  <a:pt x="804510" y="1091533"/>
                </a:cubicBezTo>
                <a:lnTo>
                  <a:pt x="47845" y="1091533"/>
                </a:lnTo>
                <a:cubicBezTo>
                  <a:pt x="35155" y="1091533"/>
                  <a:pt x="22986" y="1086492"/>
                  <a:pt x="14013" y="1077520"/>
                </a:cubicBezTo>
                <a:cubicBezTo>
                  <a:pt x="5041" y="1068547"/>
                  <a:pt x="0" y="1056378"/>
                  <a:pt x="0" y="1043688"/>
                </a:cubicBezTo>
                <a:lnTo>
                  <a:pt x="0" y="47845"/>
                </a:lnTo>
                <a:cubicBezTo>
                  <a:pt x="0" y="35155"/>
                  <a:pt x="5041" y="22986"/>
                  <a:pt x="14013" y="14013"/>
                </a:cubicBezTo>
                <a:cubicBezTo>
                  <a:pt x="22986" y="5041"/>
                  <a:pt x="35155" y="0"/>
                  <a:pt x="47845" y="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>
            <a:endParaRPr lang="en-US" dirty="0"/>
          </a:p>
          <a:p>
            <a:r>
              <a:rPr lang="en-US" b="1" dirty="0"/>
              <a:t>Overview:</a:t>
            </a:r>
          </a:p>
          <a:p>
            <a:endParaRPr lang="en-US" dirty="0"/>
          </a:p>
          <a:p>
            <a:r>
              <a:rPr lang="en-US" dirty="0"/>
              <a:t>T</a:t>
            </a:r>
            <a:r>
              <a:rPr lang="en-US" b="0" i="0" dirty="0">
                <a:solidFill>
                  <a:srgbClr val="000000"/>
                </a:solidFill>
                <a:effectLst/>
                <a:latin typeface="Bogle" panose="020B0503020203060203" pitchFamily="34" charset="77"/>
              </a:rPr>
              <a:t>his project is focused on examining the Bollywood industry from multiple perspectives (film, director, and actor) to gain a comprehensive understanding. Analyses include understanding the factors that contribute to a movie's success (hit or flop), the impact of directors and actors on a movie's performance, and the correlation between a director's or an actor's popularity and their professional success.</a:t>
            </a:r>
          </a:p>
          <a:p>
            <a:endParaRPr lang="en-US" dirty="0">
              <a:solidFill>
                <a:srgbClr val="000000"/>
              </a:solidFill>
              <a:latin typeface="Bogle" panose="020B0503020203060203" pitchFamily="34" charset="77"/>
            </a:endParaRPr>
          </a:p>
          <a:p>
            <a:endParaRPr lang="en-US" b="0" i="0" dirty="0">
              <a:solidFill>
                <a:srgbClr val="000000"/>
              </a:solidFill>
              <a:effectLst/>
              <a:latin typeface="Bogle" panose="020B0503020203060203" pitchFamily="34" charset="77"/>
            </a:endParaRP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04F4DB-7316-4C96-0710-717987EF072D}"/>
              </a:ext>
            </a:extLst>
          </p:cNvPr>
          <p:cNvSpPr txBox="1"/>
          <p:nvPr/>
        </p:nvSpPr>
        <p:spPr>
          <a:xfrm>
            <a:off x="1066800" y="4305300"/>
            <a:ext cx="14661453" cy="48308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71450" indent="-171450">
              <a:lnSpc>
                <a:spcPts val="2100"/>
              </a:lnSpc>
              <a:buFont typeface="Wingdings" pitchFamily="2" charset="2"/>
              <a:buChar char="Ø"/>
            </a:pPr>
            <a:r>
              <a: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Movie Performance: 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By looking at the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hitFlop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 field in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MovieDetails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 dataset, we can determine which movies were successful or not. This could be analyzed further by year (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releaseYear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), genre (genre), or by the individual actors (actors) or directors (directors) involved.</a:t>
            </a:r>
          </a:p>
          <a:p>
            <a:pPr marL="171450" indent="-171450">
              <a:lnSpc>
                <a:spcPts val="2100"/>
              </a:lnSpc>
              <a:buFont typeface="Wingdings" pitchFamily="2" charset="2"/>
              <a:buChar char="Ø"/>
            </a:pPr>
            <a:endParaRPr lang="en-US" sz="1600" b="1" dirty="0">
              <a:solidFill>
                <a:srgbClr val="010F1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71450" indent="-171450">
              <a:lnSpc>
                <a:spcPts val="2100"/>
              </a:lnSpc>
              <a:buFont typeface="Wingdings" pitchFamily="2" charset="2"/>
              <a:buChar char="Ø"/>
            </a:pPr>
            <a:r>
              <a: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Actor Performance: 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Using the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BollywoodActor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 dataset, we can analyze the success of individual actors. Also might look at the total number of movies they've been in (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movieCount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), their overall ratings (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ratingSum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 and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normalizedRating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), and their popularity (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googleHits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 and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normalizedGoogleRank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).</a:t>
            </a:r>
          </a:p>
          <a:p>
            <a:pPr marL="171450" indent="-171450">
              <a:lnSpc>
                <a:spcPts val="2100"/>
              </a:lnSpc>
              <a:buFont typeface="Wingdings" pitchFamily="2" charset="2"/>
              <a:buChar char="Ø"/>
            </a:pPr>
            <a:endParaRPr lang="en-US" sz="1600" b="1" dirty="0">
              <a:solidFill>
                <a:srgbClr val="010F1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71450" indent="-171450">
              <a:lnSpc>
                <a:spcPts val="2100"/>
              </a:lnSpc>
              <a:buFont typeface="Wingdings" pitchFamily="2" charset="2"/>
              <a:buChar char="Ø"/>
            </a:pPr>
            <a:r>
              <a: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Director Performance: 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Similarly, the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BollywoodDirector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 dataset can give us insights into the success of individual directors, using similar metrics to those used for actors.</a:t>
            </a:r>
          </a:p>
          <a:p>
            <a:pPr marL="171450" indent="-171450">
              <a:lnSpc>
                <a:spcPts val="2100"/>
              </a:lnSpc>
              <a:buFont typeface="Wingdings" pitchFamily="2" charset="2"/>
              <a:buChar char="Ø"/>
            </a:pPr>
            <a:endParaRPr lang="en-US" sz="1600" b="1" dirty="0">
              <a:solidFill>
                <a:srgbClr val="010F1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71450" indent="-171450">
              <a:lnSpc>
                <a:spcPts val="2100"/>
              </a:lnSpc>
              <a:buFont typeface="Wingdings" pitchFamily="2" charset="2"/>
              <a:buChar char="Ø"/>
            </a:pPr>
            <a:r>
              <a: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Trends Over Time: 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By using the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releaseYear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 field in the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MovieDetails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 dataset, we can look at trends over time. This could include changes in movie success, genre popularity, or the prominence of specific actors or directors.</a:t>
            </a:r>
          </a:p>
          <a:p>
            <a:pPr marL="171450" indent="-171450">
              <a:lnSpc>
                <a:spcPts val="2100"/>
              </a:lnSpc>
              <a:buFont typeface="Wingdings" pitchFamily="2" charset="2"/>
              <a:buChar char="Ø"/>
            </a:pPr>
            <a:endParaRPr lang="en-US" sz="1600" b="1" dirty="0">
              <a:solidFill>
                <a:srgbClr val="010F1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71450" indent="-171450">
              <a:lnSpc>
                <a:spcPts val="2100"/>
              </a:lnSpc>
              <a:buFont typeface="Wingdings" pitchFamily="2" charset="2"/>
              <a:buChar char="Ø"/>
            </a:pPr>
            <a:r>
              <a: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Genre Analysis: 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We can use the genre field in the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MovieDetails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 dataset to analyze the success and popularity of different genres. This could be further broken down by actor, director, or year.</a:t>
            </a:r>
          </a:p>
          <a:p>
            <a:pPr marL="171450" indent="-171450">
              <a:lnSpc>
                <a:spcPts val="2100"/>
              </a:lnSpc>
              <a:buFont typeface="Wingdings" pitchFamily="2" charset="2"/>
              <a:buChar char="Ø"/>
            </a:pPr>
            <a:endParaRPr lang="en-US" sz="1600" b="1" dirty="0">
              <a:solidFill>
                <a:srgbClr val="010F1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71450" indent="-171450">
              <a:lnSpc>
                <a:spcPts val="2100"/>
              </a:lnSpc>
              <a:buFont typeface="Wingdings" pitchFamily="2" charset="2"/>
              <a:buChar char="Ø"/>
            </a:pPr>
            <a:r>
              <a: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Correlation Analysis: 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We could also look at correlations between different variables. For example, is there a relationship between a director's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normalizedRating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 and the success of their movies (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hitFlop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)? Or between an actor's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googleHits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 and their </a:t>
            </a:r>
            <a:r>
              <a:rPr lang="en-US" sz="1600" dirty="0" err="1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normalizedMovieRank</a:t>
            </a:r>
            <a:r>
              <a:rPr lang="en-US" sz="16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642799" y="4278408"/>
            <a:ext cx="11002403" cy="49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 PREPARATION</a:t>
            </a:r>
          </a:p>
        </p:txBody>
      </p:sp>
      <p:sp>
        <p:nvSpPr>
          <p:cNvPr id="4" name="Freeform 4"/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906" y="-3265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6" name="TextBox 3">
            <a:extLst>
              <a:ext uri="{FF2B5EF4-FFF2-40B4-BE49-F238E27FC236}">
                <a16:creationId xmlns:a16="http://schemas.microsoft.com/office/drawing/2014/main" id="{15DFB92F-724D-88B6-A8CE-E6861A5EA8B4}"/>
              </a:ext>
            </a:extLst>
          </p:cNvPr>
          <p:cNvSpPr txBox="1"/>
          <p:nvPr/>
        </p:nvSpPr>
        <p:spPr>
          <a:xfrm>
            <a:off x="3352800" y="1109150"/>
            <a:ext cx="11002403" cy="49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Dataset Details</a:t>
            </a:r>
          </a:p>
        </p:txBody>
      </p:sp>
      <p:grpSp>
        <p:nvGrpSpPr>
          <p:cNvPr id="67" name="Group 5">
            <a:extLst>
              <a:ext uri="{FF2B5EF4-FFF2-40B4-BE49-F238E27FC236}">
                <a16:creationId xmlns:a16="http://schemas.microsoft.com/office/drawing/2014/main" id="{1ED43E77-65AE-001F-1CA1-6E5C2DFDE147}"/>
              </a:ext>
            </a:extLst>
          </p:cNvPr>
          <p:cNvGrpSpPr/>
          <p:nvPr/>
        </p:nvGrpSpPr>
        <p:grpSpPr>
          <a:xfrm>
            <a:off x="609600" y="2781301"/>
            <a:ext cx="17394335" cy="6377610"/>
            <a:chOff x="0" y="0"/>
            <a:chExt cx="4315045" cy="5525885"/>
          </a:xfrm>
        </p:grpSpPr>
        <p:grpSp>
          <p:nvGrpSpPr>
            <p:cNvPr id="68" name="Group 6">
              <a:extLst>
                <a:ext uri="{FF2B5EF4-FFF2-40B4-BE49-F238E27FC236}">
                  <a16:creationId xmlns:a16="http://schemas.microsoft.com/office/drawing/2014/main" id="{720DE899-669C-BC2E-172B-B48C7D2567EA}"/>
                </a:ext>
              </a:extLst>
            </p:cNvPr>
            <p:cNvGrpSpPr/>
            <p:nvPr/>
          </p:nvGrpSpPr>
          <p:grpSpPr>
            <a:xfrm>
              <a:off x="0" y="0"/>
              <a:ext cx="4315045" cy="5525885"/>
              <a:chOff x="0" y="0"/>
              <a:chExt cx="852355" cy="1091533"/>
            </a:xfrm>
          </p:grpSpPr>
          <p:sp>
            <p:nvSpPr>
              <p:cNvPr id="71" name="Freeform 7">
                <a:extLst>
                  <a:ext uri="{FF2B5EF4-FFF2-40B4-BE49-F238E27FC236}">
                    <a16:creationId xmlns:a16="http://schemas.microsoft.com/office/drawing/2014/main" id="{C8C48FE7-3FA8-C928-7A87-D930A561502F}"/>
                  </a:ext>
                </a:extLst>
              </p:cNvPr>
              <p:cNvSpPr/>
              <p:nvPr/>
            </p:nvSpPr>
            <p:spPr>
              <a:xfrm>
                <a:off x="0" y="0"/>
                <a:ext cx="852355" cy="1091533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2" name="TextBox 8">
                <a:extLst>
                  <a:ext uri="{FF2B5EF4-FFF2-40B4-BE49-F238E27FC236}">
                    <a16:creationId xmlns:a16="http://schemas.microsoft.com/office/drawing/2014/main" id="{77EE747B-A1BE-38F8-AA12-B09B012CF6B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69" name="TextBox 10">
              <a:extLst>
                <a:ext uri="{FF2B5EF4-FFF2-40B4-BE49-F238E27FC236}">
                  <a16:creationId xmlns:a16="http://schemas.microsoft.com/office/drawing/2014/main" id="{221ECD4C-DFF0-A67B-0F67-7D13A5692B8D}"/>
                </a:ext>
              </a:extLst>
            </p:cNvPr>
            <p:cNvSpPr txBox="1"/>
            <p:nvPr/>
          </p:nvSpPr>
          <p:spPr>
            <a:xfrm>
              <a:off x="332077" y="533131"/>
              <a:ext cx="3637094" cy="34746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2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A unique identifier for each director.</a:t>
              </a: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2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directorName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The name of the director.</a:t>
              </a: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2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movieCount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likely indicates the number of movies the director has made.</a:t>
              </a: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2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ratingSum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could be the sum of the ratings of all movies directed by the director.</a:t>
              </a: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2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normalizedMovieRank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could be the average ranking for the director's movies, adjusted to a common scale.</a:t>
              </a: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2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googleHits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could represent the number of Google search results related to the director.</a:t>
              </a: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2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normalizedGoogleRank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might represent the director's popularity or relevance, based on Google search results, adjusted to a common scale.</a:t>
              </a: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171450" indent="-1714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2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normalizedRating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could be the director's average rating, adjusted to a common scale.</a:t>
              </a:r>
            </a:p>
          </p:txBody>
        </p:sp>
        <p:sp>
          <p:nvSpPr>
            <p:cNvPr id="70" name="TextBox 11">
              <a:extLst>
                <a:ext uri="{FF2B5EF4-FFF2-40B4-BE49-F238E27FC236}">
                  <a16:creationId xmlns:a16="http://schemas.microsoft.com/office/drawing/2014/main" id="{BACA5D62-29D0-E7F3-1EA6-11858CEC8601}"/>
                </a:ext>
              </a:extLst>
            </p:cNvPr>
            <p:cNvSpPr txBox="1"/>
            <p:nvPr/>
          </p:nvSpPr>
          <p:spPr>
            <a:xfrm>
              <a:off x="420700" y="261349"/>
              <a:ext cx="3595854" cy="2882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Attribute Description</a:t>
              </a:r>
            </a:p>
          </p:txBody>
        </p:sp>
      </p:grpSp>
      <p:sp>
        <p:nvSpPr>
          <p:cNvPr id="79" name="TextBox 11">
            <a:extLst>
              <a:ext uri="{FF2B5EF4-FFF2-40B4-BE49-F238E27FC236}">
                <a16:creationId xmlns:a16="http://schemas.microsoft.com/office/drawing/2014/main" id="{0717BB97-06FF-77BC-0E12-849B40A681EC}"/>
              </a:ext>
            </a:extLst>
          </p:cNvPr>
          <p:cNvSpPr txBox="1"/>
          <p:nvPr/>
        </p:nvSpPr>
        <p:spPr>
          <a:xfrm>
            <a:off x="1157918" y="1997881"/>
            <a:ext cx="12569713" cy="332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BollywoodDirectors</a:t>
            </a:r>
            <a:r>
              <a:rPr lang="en-US" sz="2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Data: </a:t>
            </a:r>
            <a:r>
              <a:rPr lang="en-US" sz="1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This dataset seems to contain information about Bollywood directors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5503C-78CB-B819-834C-0903A3509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0697708-CC89-43FD-4008-831C32D562C4}"/>
              </a:ext>
            </a:extLst>
          </p:cNvPr>
          <p:cNvSpPr/>
          <p:nvPr/>
        </p:nvSpPr>
        <p:spPr>
          <a:xfrm>
            <a:off x="-6906" y="-3265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DB78DD5-72E7-BE95-A25B-048E6219B55E}"/>
              </a:ext>
            </a:extLst>
          </p:cNvPr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91AF991C-F100-DBC7-DDB7-9F996C81B019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A2F7808-5075-9945-F8FB-AA2F7CA592D0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6" name="TextBox 3">
            <a:extLst>
              <a:ext uri="{FF2B5EF4-FFF2-40B4-BE49-F238E27FC236}">
                <a16:creationId xmlns:a16="http://schemas.microsoft.com/office/drawing/2014/main" id="{15500273-21E7-F935-D61F-A4F42BD97CD5}"/>
              </a:ext>
            </a:extLst>
          </p:cNvPr>
          <p:cNvSpPr txBox="1"/>
          <p:nvPr/>
        </p:nvSpPr>
        <p:spPr>
          <a:xfrm>
            <a:off x="3352800" y="1109150"/>
            <a:ext cx="11002403" cy="49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Dataset Details..</a:t>
            </a:r>
            <a:r>
              <a:rPr lang="en-US" sz="3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contd</a:t>
            </a:r>
            <a:endParaRPr lang="en-US" sz="3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grpSp>
        <p:nvGrpSpPr>
          <p:cNvPr id="67" name="Group 5">
            <a:extLst>
              <a:ext uri="{FF2B5EF4-FFF2-40B4-BE49-F238E27FC236}">
                <a16:creationId xmlns:a16="http://schemas.microsoft.com/office/drawing/2014/main" id="{E7E126E1-04CD-86A6-9E17-1C023058DF3B}"/>
              </a:ext>
            </a:extLst>
          </p:cNvPr>
          <p:cNvGrpSpPr/>
          <p:nvPr/>
        </p:nvGrpSpPr>
        <p:grpSpPr>
          <a:xfrm>
            <a:off x="609600" y="2781301"/>
            <a:ext cx="17394335" cy="6377610"/>
            <a:chOff x="0" y="0"/>
            <a:chExt cx="4315045" cy="5525885"/>
          </a:xfrm>
        </p:grpSpPr>
        <p:grpSp>
          <p:nvGrpSpPr>
            <p:cNvPr id="68" name="Group 6">
              <a:extLst>
                <a:ext uri="{FF2B5EF4-FFF2-40B4-BE49-F238E27FC236}">
                  <a16:creationId xmlns:a16="http://schemas.microsoft.com/office/drawing/2014/main" id="{345A2322-23C8-4DB3-D466-1504E25D5FFC}"/>
                </a:ext>
              </a:extLst>
            </p:cNvPr>
            <p:cNvGrpSpPr/>
            <p:nvPr/>
          </p:nvGrpSpPr>
          <p:grpSpPr>
            <a:xfrm>
              <a:off x="0" y="0"/>
              <a:ext cx="4315045" cy="5525885"/>
              <a:chOff x="0" y="0"/>
              <a:chExt cx="852355" cy="1091533"/>
            </a:xfrm>
          </p:grpSpPr>
          <p:sp>
            <p:nvSpPr>
              <p:cNvPr id="71" name="Freeform 7">
                <a:extLst>
                  <a:ext uri="{FF2B5EF4-FFF2-40B4-BE49-F238E27FC236}">
                    <a16:creationId xmlns:a16="http://schemas.microsoft.com/office/drawing/2014/main" id="{3765941A-F5F3-63BD-BAFE-4E2014B290D7}"/>
                  </a:ext>
                </a:extLst>
              </p:cNvPr>
              <p:cNvSpPr/>
              <p:nvPr/>
            </p:nvSpPr>
            <p:spPr>
              <a:xfrm>
                <a:off x="0" y="0"/>
                <a:ext cx="852355" cy="1091533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2" name="TextBox 8">
                <a:extLst>
                  <a:ext uri="{FF2B5EF4-FFF2-40B4-BE49-F238E27FC236}">
                    <a16:creationId xmlns:a16="http://schemas.microsoft.com/office/drawing/2014/main" id="{E8A90AA9-970D-DC1C-B71A-6AEB2D4ABB0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69" name="TextBox 10">
              <a:extLst>
                <a:ext uri="{FF2B5EF4-FFF2-40B4-BE49-F238E27FC236}">
                  <a16:creationId xmlns:a16="http://schemas.microsoft.com/office/drawing/2014/main" id="{F8FB7B39-DBDC-DA3F-D458-53399525AB00}"/>
                </a:ext>
              </a:extLst>
            </p:cNvPr>
            <p:cNvSpPr txBox="1"/>
            <p:nvPr/>
          </p:nvSpPr>
          <p:spPr>
            <a:xfrm>
              <a:off x="332077" y="533131"/>
              <a:ext cx="3637094" cy="395237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actorId</a:t>
              </a: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 unique identifier for each actor.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actorName</a:t>
              </a: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The name of the actor.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movieCount</a:t>
              </a: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This likely indicates the number of movies the actor has starred in.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ratingSum</a:t>
              </a: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This could be the sum of the ratings of all movies the actor has starred in.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normalizedMovieRank</a:t>
              </a: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This could be the average ranking for the actor's movies, adjusted to a common scale.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googleHits</a:t>
              </a: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This could represent the number of Google search results related to the actor.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normalizedGoogleRank</a:t>
              </a: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This might represent the actor's popularity or relevance, based on Google search results, adjusted to a common scale.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endParaRPr lang="en-US" sz="1600" b="1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normalizedRating</a:t>
              </a: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This could be the actor's average rating, adjusted to a common scale.</a:t>
              </a: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70" name="TextBox 11">
              <a:extLst>
                <a:ext uri="{FF2B5EF4-FFF2-40B4-BE49-F238E27FC236}">
                  <a16:creationId xmlns:a16="http://schemas.microsoft.com/office/drawing/2014/main" id="{BA247C7D-F534-9E65-0D51-A92CDD3CBF0A}"/>
                </a:ext>
              </a:extLst>
            </p:cNvPr>
            <p:cNvSpPr txBox="1"/>
            <p:nvPr/>
          </p:nvSpPr>
          <p:spPr>
            <a:xfrm>
              <a:off x="420700" y="261349"/>
              <a:ext cx="3595854" cy="2882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Attribute Description</a:t>
              </a:r>
            </a:p>
          </p:txBody>
        </p:sp>
      </p:grpSp>
      <p:sp>
        <p:nvSpPr>
          <p:cNvPr id="79" name="TextBox 11">
            <a:extLst>
              <a:ext uri="{FF2B5EF4-FFF2-40B4-BE49-F238E27FC236}">
                <a16:creationId xmlns:a16="http://schemas.microsoft.com/office/drawing/2014/main" id="{D62D8E11-806C-8910-9972-FDBF1C9D8517}"/>
              </a:ext>
            </a:extLst>
          </p:cNvPr>
          <p:cNvSpPr txBox="1"/>
          <p:nvPr/>
        </p:nvSpPr>
        <p:spPr>
          <a:xfrm>
            <a:off x="1157918" y="1997881"/>
            <a:ext cx="12569713" cy="332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BollywoodActor</a:t>
            </a:r>
            <a:r>
              <a:rPr lang="en-US" sz="2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Data: </a:t>
            </a:r>
            <a:r>
              <a:rPr lang="en-US" sz="1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This dataset seems to contain information about Bollywood actors</a:t>
            </a:r>
          </a:p>
        </p:txBody>
      </p:sp>
    </p:spTree>
    <p:extLst>
      <p:ext uri="{BB962C8B-B14F-4D97-AF65-F5344CB8AC3E}">
        <p14:creationId xmlns:p14="http://schemas.microsoft.com/office/powerpoint/2010/main" val="3036002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23A64-05AF-7BD4-6ED1-672419A15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93EF0B9-374C-1763-9D3E-61EC6ADFB906}"/>
              </a:ext>
            </a:extLst>
          </p:cNvPr>
          <p:cNvSpPr/>
          <p:nvPr/>
        </p:nvSpPr>
        <p:spPr>
          <a:xfrm>
            <a:off x="-6906" y="-3265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58313F2-90FA-F665-049C-2F521125068F}"/>
              </a:ext>
            </a:extLst>
          </p:cNvPr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0ADB67D-914E-45F3-1C88-448BF35E4F0A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0F3B4C24-0F10-1A61-633D-43C87E0107AF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6" name="TextBox 3">
            <a:extLst>
              <a:ext uri="{FF2B5EF4-FFF2-40B4-BE49-F238E27FC236}">
                <a16:creationId xmlns:a16="http://schemas.microsoft.com/office/drawing/2014/main" id="{BA7019A8-299F-5203-9D99-22A86F4A2E36}"/>
              </a:ext>
            </a:extLst>
          </p:cNvPr>
          <p:cNvSpPr txBox="1"/>
          <p:nvPr/>
        </p:nvSpPr>
        <p:spPr>
          <a:xfrm>
            <a:off x="3352800" y="1109150"/>
            <a:ext cx="11002403" cy="49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Dataset Details..</a:t>
            </a:r>
            <a:r>
              <a:rPr lang="en-US" sz="3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contd</a:t>
            </a:r>
            <a:endParaRPr lang="en-US" sz="3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grpSp>
        <p:nvGrpSpPr>
          <p:cNvPr id="67" name="Group 5">
            <a:extLst>
              <a:ext uri="{FF2B5EF4-FFF2-40B4-BE49-F238E27FC236}">
                <a16:creationId xmlns:a16="http://schemas.microsoft.com/office/drawing/2014/main" id="{3B2352DB-1634-DC28-50C4-814FB2F8FEF3}"/>
              </a:ext>
            </a:extLst>
          </p:cNvPr>
          <p:cNvGrpSpPr/>
          <p:nvPr/>
        </p:nvGrpSpPr>
        <p:grpSpPr>
          <a:xfrm>
            <a:off x="609600" y="2781301"/>
            <a:ext cx="17394335" cy="6377610"/>
            <a:chOff x="0" y="0"/>
            <a:chExt cx="4315045" cy="5525885"/>
          </a:xfrm>
        </p:grpSpPr>
        <p:grpSp>
          <p:nvGrpSpPr>
            <p:cNvPr id="68" name="Group 6">
              <a:extLst>
                <a:ext uri="{FF2B5EF4-FFF2-40B4-BE49-F238E27FC236}">
                  <a16:creationId xmlns:a16="http://schemas.microsoft.com/office/drawing/2014/main" id="{BB8B94A4-6BA2-B9C5-077E-2771B8B0CA63}"/>
                </a:ext>
              </a:extLst>
            </p:cNvPr>
            <p:cNvGrpSpPr/>
            <p:nvPr/>
          </p:nvGrpSpPr>
          <p:grpSpPr>
            <a:xfrm>
              <a:off x="0" y="0"/>
              <a:ext cx="4315045" cy="5525885"/>
              <a:chOff x="0" y="0"/>
              <a:chExt cx="852355" cy="1091533"/>
            </a:xfrm>
          </p:grpSpPr>
          <p:sp>
            <p:nvSpPr>
              <p:cNvPr id="71" name="Freeform 7">
                <a:extLst>
                  <a:ext uri="{FF2B5EF4-FFF2-40B4-BE49-F238E27FC236}">
                    <a16:creationId xmlns:a16="http://schemas.microsoft.com/office/drawing/2014/main" id="{FB2B8466-3A7E-8916-4F8E-0C3EB226D04B}"/>
                  </a:ext>
                </a:extLst>
              </p:cNvPr>
              <p:cNvSpPr/>
              <p:nvPr/>
            </p:nvSpPr>
            <p:spPr>
              <a:xfrm>
                <a:off x="0" y="0"/>
                <a:ext cx="852355" cy="1091533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2" name="TextBox 8">
                <a:extLst>
                  <a:ext uri="{FF2B5EF4-FFF2-40B4-BE49-F238E27FC236}">
                    <a16:creationId xmlns:a16="http://schemas.microsoft.com/office/drawing/2014/main" id="{7D9E35B7-BA6F-FD8C-FC58-69DEF984896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69" name="TextBox 10">
              <a:extLst>
                <a:ext uri="{FF2B5EF4-FFF2-40B4-BE49-F238E27FC236}">
                  <a16:creationId xmlns:a16="http://schemas.microsoft.com/office/drawing/2014/main" id="{863D88CD-1CD7-6790-F772-2802EDFE1DC9}"/>
                </a:ext>
              </a:extLst>
            </p:cNvPr>
            <p:cNvSpPr txBox="1"/>
            <p:nvPr/>
          </p:nvSpPr>
          <p:spPr>
            <a:xfrm>
              <a:off x="332077" y="533131"/>
              <a:ext cx="3637094" cy="324135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imdbId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is likely the unique identifier for each movie, as assigned by the Internet Movie Database (IMDb.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title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The title of each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releaseYear</a:t>
              </a: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and </a:t>
              </a: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releaseDate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These fields provide information about when each movie was released.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genre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column describes the genre or genres of each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writers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field probably lists the writer or writers of each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actor_id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A unique identifier for the actor or actors in the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actors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field lists the names of the main actors in the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director_id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A unique identifier for the director of the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directors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field lists the name of the movie's director.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sequel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field indicates whether the movie is a sequel or not.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hitFlop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could be a categorical variable indicating the success or failure of the movie.</a:t>
              </a:r>
            </a:p>
            <a:p>
              <a:pPr algn="ctr"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70" name="TextBox 11">
              <a:extLst>
                <a:ext uri="{FF2B5EF4-FFF2-40B4-BE49-F238E27FC236}">
                  <a16:creationId xmlns:a16="http://schemas.microsoft.com/office/drawing/2014/main" id="{980C31D8-9F07-196C-D1F3-752A88C87CAD}"/>
                </a:ext>
              </a:extLst>
            </p:cNvPr>
            <p:cNvSpPr txBox="1"/>
            <p:nvPr/>
          </p:nvSpPr>
          <p:spPr>
            <a:xfrm>
              <a:off x="420700" y="261349"/>
              <a:ext cx="3595854" cy="2882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Attribute Description</a:t>
              </a:r>
            </a:p>
          </p:txBody>
        </p:sp>
      </p:grpSp>
      <p:sp>
        <p:nvSpPr>
          <p:cNvPr id="79" name="TextBox 11">
            <a:extLst>
              <a:ext uri="{FF2B5EF4-FFF2-40B4-BE49-F238E27FC236}">
                <a16:creationId xmlns:a16="http://schemas.microsoft.com/office/drawing/2014/main" id="{F43CB50D-70D2-7492-ED25-DF1150FFA22A}"/>
              </a:ext>
            </a:extLst>
          </p:cNvPr>
          <p:cNvSpPr txBox="1"/>
          <p:nvPr/>
        </p:nvSpPr>
        <p:spPr>
          <a:xfrm>
            <a:off x="1157918" y="1997881"/>
            <a:ext cx="12569713" cy="332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BollyWood</a:t>
            </a:r>
            <a:r>
              <a:rPr lang="en-US" sz="2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Movie Details Data: </a:t>
            </a:r>
            <a:r>
              <a:rPr lang="en-US" sz="1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This dataset appears to contain information related to different aspects of movies</a:t>
            </a:r>
          </a:p>
        </p:txBody>
      </p:sp>
    </p:spTree>
    <p:extLst>
      <p:ext uri="{BB962C8B-B14F-4D97-AF65-F5344CB8AC3E}">
        <p14:creationId xmlns:p14="http://schemas.microsoft.com/office/powerpoint/2010/main" val="1427545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26CA1-5763-4B20-BF88-110969472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4F687C5-7698-7B6D-7AAB-9D56F6F3B636}"/>
              </a:ext>
            </a:extLst>
          </p:cNvPr>
          <p:cNvSpPr/>
          <p:nvPr/>
        </p:nvSpPr>
        <p:spPr>
          <a:xfrm>
            <a:off x="-227156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0B03DF3-EA09-76D9-C044-73E572966A84}"/>
              </a:ext>
            </a:extLst>
          </p:cNvPr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B7AC3104-B0A1-A25E-4408-5FE9F0922C9C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4D0D0DCF-BE66-E317-CA04-E8F2D91AFD22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6" name="TextBox 3">
            <a:extLst>
              <a:ext uri="{FF2B5EF4-FFF2-40B4-BE49-F238E27FC236}">
                <a16:creationId xmlns:a16="http://schemas.microsoft.com/office/drawing/2014/main" id="{7A695FDF-9AD5-6D61-A319-AB309D05F2F9}"/>
              </a:ext>
            </a:extLst>
          </p:cNvPr>
          <p:cNvSpPr txBox="1"/>
          <p:nvPr/>
        </p:nvSpPr>
        <p:spPr>
          <a:xfrm>
            <a:off x="3352800" y="1109150"/>
            <a:ext cx="11002403" cy="49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Creation of Director and Actor Dataset:</a:t>
            </a:r>
          </a:p>
        </p:txBody>
      </p:sp>
      <p:grpSp>
        <p:nvGrpSpPr>
          <p:cNvPr id="67" name="Group 5">
            <a:extLst>
              <a:ext uri="{FF2B5EF4-FFF2-40B4-BE49-F238E27FC236}">
                <a16:creationId xmlns:a16="http://schemas.microsoft.com/office/drawing/2014/main" id="{E5744911-52A4-FB47-43C6-1456B4A2BD1B}"/>
              </a:ext>
            </a:extLst>
          </p:cNvPr>
          <p:cNvGrpSpPr/>
          <p:nvPr/>
        </p:nvGrpSpPr>
        <p:grpSpPr>
          <a:xfrm>
            <a:off x="609600" y="1656382"/>
            <a:ext cx="7543800" cy="7964836"/>
            <a:chOff x="0" y="-192881"/>
            <a:chExt cx="4716320" cy="5718766"/>
          </a:xfrm>
        </p:grpSpPr>
        <p:grpSp>
          <p:nvGrpSpPr>
            <p:cNvPr id="68" name="Group 6">
              <a:extLst>
                <a:ext uri="{FF2B5EF4-FFF2-40B4-BE49-F238E27FC236}">
                  <a16:creationId xmlns:a16="http://schemas.microsoft.com/office/drawing/2014/main" id="{37BF6584-E564-BB62-BF28-C7E7A069BD30}"/>
                </a:ext>
              </a:extLst>
            </p:cNvPr>
            <p:cNvGrpSpPr/>
            <p:nvPr/>
          </p:nvGrpSpPr>
          <p:grpSpPr>
            <a:xfrm>
              <a:off x="0" y="-192881"/>
              <a:ext cx="4538913" cy="5718766"/>
              <a:chOff x="0" y="-38100"/>
              <a:chExt cx="896576" cy="1129633"/>
            </a:xfrm>
          </p:grpSpPr>
          <p:sp>
            <p:nvSpPr>
              <p:cNvPr id="71" name="Freeform 7">
                <a:extLst>
                  <a:ext uri="{FF2B5EF4-FFF2-40B4-BE49-F238E27FC236}">
                    <a16:creationId xmlns:a16="http://schemas.microsoft.com/office/drawing/2014/main" id="{25420E30-9497-346A-D0EA-CA0ACD930FF5}"/>
                  </a:ext>
                </a:extLst>
              </p:cNvPr>
              <p:cNvSpPr/>
              <p:nvPr/>
            </p:nvSpPr>
            <p:spPr>
              <a:xfrm>
                <a:off x="44221" y="0"/>
                <a:ext cx="852355" cy="1091533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2" name="TextBox 8">
                <a:extLst>
                  <a:ext uri="{FF2B5EF4-FFF2-40B4-BE49-F238E27FC236}">
                    <a16:creationId xmlns:a16="http://schemas.microsoft.com/office/drawing/2014/main" id="{14E1A2F3-8DCD-58F1-4B62-5E1F30E2FFC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69" name="TextBox 10">
              <a:extLst>
                <a:ext uri="{FF2B5EF4-FFF2-40B4-BE49-F238E27FC236}">
                  <a16:creationId xmlns:a16="http://schemas.microsoft.com/office/drawing/2014/main" id="{7D5B3628-EC6A-8509-2EA5-2A4BDF3F9FA5}"/>
                </a:ext>
              </a:extLst>
            </p:cNvPr>
            <p:cNvSpPr txBox="1"/>
            <p:nvPr/>
          </p:nvSpPr>
          <p:spPr>
            <a:xfrm>
              <a:off x="337807" y="692690"/>
              <a:ext cx="4378513" cy="365963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CREATE TABLE Director (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 PRIMARY KEY,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directorName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VARCHAR(100) NOT NULL,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movieCount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ratingSum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normalizedMovieRank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FLOAT,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googleHits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normalizedGoogleRank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FLOAT,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normalizedRating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FLOAT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);</a:t>
              </a:r>
            </a:p>
            <a:p>
              <a:pPr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LOAD DATA LOCAL INFILE '/Users/u0n000f/Downloads/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BollywoodDirectorRanking.csv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' INTO TABLE Director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FIELDS TERMINATED BY ','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ENCLOSED BY '"'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LINES TERMINATED BY '\n'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IGNORE 1 LINES;</a:t>
              </a:r>
            </a:p>
            <a:p>
              <a:pPr algn="ctr"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70" name="TextBox 11">
              <a:extLst>
                <a:ext uri="{FF2B5EF4-FFF2-40B4-BE49-F238E27FC236}">
                  <a16:creationId xmlns:a16="http://schemas.microsoft.com/office/drawing/2014/main" id="{87CE4970-F8B2-2D84-DE62-ABD8AFDF8860}"/>
                </a:ext>
              </a:extLst>
            </p:cNvPr>
            <p:cNvSpPr txBox="1"/>
            <p:nvPr/>
          </p:nvSpPr>
          <p:spPr>
            <a:xfrm>
              <a:off x="420700" y="261349"/>
              <a:ext cx="3595854" cy="27413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Directors Table:</a:t>
              </a:r>
            </a:p>
          </p:txBody>
        </p:sp>
      </p:grpSp>
      <p:grpSp>
        <p:nvGrpSpPr>
          <p:cNvPr id="73" name="Group 5">
            <a:extLst>
              <a:ext uri="{FF2B5EF4-FFF2-40B4-BE49-F238E27FC236}">
                <a16:creationId xmlns:a16="http://schemas.microsoft.com/office/drawing/2014/main" id="{217C5531-3B69-9635-A8BE-740A3E310D45}"/>
              </a:ext>
            </a:extLst>
          </p:cNvPr>
          <p:cNvGrpSpPr/>
          <p:nvPr/>
        </p:nvGrpSpPr>
        <p:grpSpPr>
          <a:xfrm>
            <a:off x="9394714" y="1796401"/>
            <a:ext cx="7925606" cy="7696200"/>
            <a:chOff x="0" y="0"/>
            <a:chExt cx="4315045" cy="5525885"/>
          </a:xfrm>
        </p:grpSpPr>
        <p:grpSp>
          <p:nvGrpSpPr>
            <p:cNvPr id="74" name="Group 6">
              <a:extLst>
                <a:ext uri="{FF2B5EF4-FFF2-40B4-BE49-F238E27FC236}">
                  <a16:creationId xmlns:a16="http://schemas.microsoft.com/office/drawing/2014/main" id="{58DEE62A-069A-3893-50C2-F5E95740A27E}"/>
                </a:ext>
              </a:extLst>
            </p:cNvPr>
            <p:cNvGrpSpPr/>
            <p:nvPr/>
          </p:nvGrpSpPr>
          <p:grpSpPr>
            <a:xfrm>
              <a:off x="0" y="0"/>
              <a:ext cx="4315045" cy="5525885"/>
              <a:chOff x="0" y="0"/>
              <a:chExt cx="852355" cy="1091533"/>
            </a:xfrm>
          </p:grpSpPr>
          <p:sp>
            <p:nvSpPr>
              <p:cNvPr id="77" name="Freeform 7">
                <a:extLst>
                  <a:ext uri="{FF2B5EF4-FFF2-40B4-BE49-F238E27FC236}">
                    <a16:creationId xmlns:a16="http://schemas.microsoft.com/office/drawing/2014/main" id="{3FE26079-0BD9-29A6-70D1-FC7CF625A3BD}"/>
                  </a:ext>
                </a:extLst>
              </p:cNvPr>
              <p:cNvSpPr/>
              <p:nvPr/>
            </p:nvSpPr>
            <p:spPr>
              <a:xfrm>
                <a:off x="0" y="0"/>
                <a:ext cx="852355" cy="1091533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8" name="TextBox 8">
                <a:extLst>
                  <a:ext uri="{FF2B5EF4-FFF2-40B4-BE49-F238E27FC236}">
                    <a16:creationId xmlns:a16="http://schemas.microsoft.com/office/drawing/2014/main" id="{E52FCCDC-E691-8A04-A5FA-0A3AFF2CF0B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75" name="TextBox 10">
              <a:extLst>
                <a:ext uri="{FF2B5EF4-FFF2-40B4-BE49-F238E27FC236}">
                  <a16:creationId xmlns:a16="http://schemas.microsoft.com/office/drawing/2014/main" id="{9FB4AAF4-4B2A-D66F-BEED-AA9FB85487C6}"/>
                </a:ext>
              </a:extLst>
            </p:cNvPr>
            <p:cNvSpPr txBox="1"/>
            <p:nvPr/>
          </p:nvSpPr>
          <p:spPr>
            <a:xfrm>
              <a:off x="379460" y="789696"/>
              <a:ext cx="3637094" cy="365963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CREATE TABLE Actor (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 PRIMARY KEY,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actorName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VARCHAR(100) NOT NULL,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movieCount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ratingSum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normalizedMovieRank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FLOAT,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googleHits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normalizedGoogleRank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FLOAT,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normalizedRating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FLOAT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);</a:t>
              </a:r>
            </a:p>
            <a:p>
              <a:pPr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LOAD DATA LOCAL INFILE '/Users/u0n000f/Downloads/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BollywoodActorRanking.csv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' INTO TABLE Actor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FIELDS TERMINATED BY ','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ENCLOSED BY '"'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LINES TERMINATED BY '\n'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IGNORE 1 LINES;</a:t>
              </a:r>
            </a:p>
            <a:p>
              <a:pPr algn="ctr">
                <a:lnSpc>
                  <a:spcPts val="2100"/>
                </a:lnSpc>
              </a:pPr>
              <a:endParaRPr lang="en-US" sz="15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76" name="TextBox 11">
              <a:extLst>
                <a:ext uri="{FF2B5EF4-FFF2-40B4-BE49-F238E27FC236}">
                  <a16:creationId xmlns:a16="http://schemas.microsoft.com/office/drawing/2014/main" id="{4CF15C43-3B1D-884E-9B60-94356DB0EFC8}"/>
                </a:ext>
              </a:extLst>
            </p:cNvPr>
            <p:cNvSpPr txBox="1"/>
            <p:nvPr/>
          </p:nvSpPr>
          <p:spPr>
            <a:xfrm>
              <a:off x="420700" y="261349"/>
              <a:ext cx="3595854" cy="27413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Actor Table: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6393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55F21-5E96-A858-6B19-2AC69B7AA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87B4CFC-FD1D-628F-70AD-2B162E65B16B}"/>
              </a:ext>
            </a:extLst>
          </p:cNvPr>
          <p:cNvSpPr/>
          <p:nvPr/>
        </p:nvSpPr>
        <p:spPr>
          <a:xfrm>
            <a:off x="-6906" y="-3265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D824D76-B9F7-849B-F874-DB800B77939E}"/>
              </a:ext>
            </a:extLst>
          </p:cNvPr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7087C6AE-5AA1-C73C-402B-62C0DFC34403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1D8B3CDF-1246-A4B1-885A-38D939B87CCF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7" name="Group 5">
            <a:extLst>
              <a:ext uri="{FF2B5EF4-FFF2-40B4-BE49-F238E27FC236}">
                <a16:creationId xmlns:a16="http://schemas.microsoft.com/office/drawing/2014/main" id="{F565A2B5-38CD-6E75-2F2D-4D08AACB086C}"/>
              </a:ext>
            </a:extLst>
          </p:cNvPr>
          <p:cNvGrpSpPr/>
          <p:nvPr/>
        </p:nvGrpSpPr>
        <p:grpSpPr>
          <a:xfrm>
            <a:off x="936638" y="1917415"/>
            <a:ext cx="6988162" cy="7499233"/>
            <a:chOff x="0" y="0"/>
            <a:chExt cx="4315045" cy="5525885"/>
          </a:xfrm>
        </p:grpSpPr>
        <p:grpSp>
          <p:nvGrpSpPr>
            <p:cNvPr id="48" name="Group 6">
              <a:extLst>
                <a:ext uri="{FF2B5EF4-FFF2-40B4-BE49-F238E27FC236}">
                  <a16:creationId xmlns:a16="http://schemas.microsoft.com/office/drawing/2014/main" id="{07A32C13-6F6A-A42B-85D5-400142F613B9}"/>
                </a:ext>
              </a:extLst>
            </p:cNvPr>
            <p:cNvGrpSpPr/>
            <p:nvPr/>
          </p:nvGrpSpPr>
          <p:grpSpPr>
            <a:xfrm>
              <a:off x="0" y="0"/>
              <a:ext cx="4315045" cy="5525885"/>
              <a:chOff x="0" y="0"/>
              <a:chExt cx="852355" cy="1091533"/>
            </a:xfrm>
          </p:grpSpPr>
          <p:sp>
            <p:nvSpPr>
              <p:cNvPr id="52" name="Freeform 7">
                <a:extLst>
                  <a:ext uri="{FF2B5EF4-FFF2-40B4-BE49-F238E27FC236}">
                    <a16:creationId xmlns:a16="http://schemas.microsoft.com/office/drawing/2014/main" id="{DFC1EED7-EC99-3DF3-4C3E-2831C349159D}"/>
                  </a:ext>
                </a:extLst>
              </p:cNvPr>
              <p:cNvSpPr/>
              <p:nvPr/>
            </p:nvSpPr>
            <p:spPr>
              <a:xfrm>
                <a:off x="0" y="0"/>
                <a:ext cx="852355" cy="1091533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3" name="TextBox 8">
                <a:extLst>
                  <a:ext uri="{FF2B5EF4-FFF2-40B4-BE49-F238E27FC236}">
                    <a16:creationId xmlns:a16="http://schemas.microsoft.com/office/drawing/2014/main" id="{23E62F3E-F0E4-2587-717E-83DB07AE419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50" name="TextBox 10">
              <a:extLst>
                <a:ext uri="{FF2B5EF4-FFF2-40B4-BE49-F238E27FC236}">
                  <a16:creationId xmlns:a16="http://schemas.microsoft.com/office/drawing/2014/main" id="{DCAF75D7-56F5-D424-606D-A276D45F2A19}"/>
                </a:ext>
              </a:extLst>
            </p:cNvPr>
            <p:cNvSpPr txBox="1"/>
            <p:nvPr/>
          </p:nvSpPr>
          <p:spPr>
            <a:xfrm>
              <a:off x="141882" y="585440"/>
              <a:ext cx="4045909" cy="454141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CREATE TABLE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bollywoodmoviedetail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(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imdbId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VARCHAR(20) PRIMARY KEY,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title VARCHAR(255) NOT NULL,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releaseYear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releaseDate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VARCHAR(100),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genre VARCHAR(100),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writers TEXT,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actor_id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actors TEXT,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director_id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directors TEXT,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sequel VARCHAR(255),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hitFlop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VARCHAR(50)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);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LOAD DATA LOCAL INFILE '/Users/u0n000f/Downloads/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sql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/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BollywoodMovieDetail.csv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' INTO TABLE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bollywoodmoviedetail</a:t>
              </a: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FIELDS TERMINATED BY ','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ENCLOSED BY '"'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LINES TERMINATED BY '\n'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IGNORE 1 LINES;</a:t>
              </a:r>
            </a:p>
            <a:p>
              <a:pPr algn="ctr">
                <a:lnSpc>
                  <a:spcPts val="2100"/>
                </a:lnSpc>
              </a:pPr>
              <a:endParaRPr lang="en-US" sz="15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algn="ctr">
                <a:lnSpc>
                  <a:spcPts val="2100"/>
                </a:lnSpc>
              </a:pPr>
              <a:endParaRPr lang="en-US" sz="15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1" name="TextBox 11">
              <a:extLst>
                <a:ext uri="{FF2B5EF4-FFF2-40B4-BE49-F238E27FC236}">
                  <a16:creationId xmlns:a16="http://schemas.microsoft.com/office/drawing/2014/main" id="{D3E02870-E654-F192-AFA7-04014FEC8BED}"/>
                </a:ext>
              </a:extLst>
            </p:cNvPr>
            <p:cNvSpPr txBox="1"/>
            <p:nvPr/>
          </p:nvSpPr>
          <p:spPr>
            <a:xfrm>
              <a:off x="420700" y="261349"/>
              <a:ext cx="3248128" cy="2446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Raw Movie Table:</a:t>
              </a:r>
            </a:p>
          </p:txBody>
        </p:sp>
      </p:grpSp>
      <p:sp>
        <p:nvSpPr>
          <p:cNvPr id="66" name="TextBox 3">
            <a:extLst>
              <a:ext uri="{FF2B5EF4-FFF2-40B4-BE49-F238E27FC236}">
                <a16:creationId xmlns:a16="http://schemas.microsoft.com/office/drawing/2014/main" id="{B6B64301-1BB8-C99E-E841-1BE0B8F88193}"/>
              </a:ext>
            </a:extLst>
          </p:cNvPr>
          <p:cNvSpPr txBox="1"/>
          <p:nvPr/>
        </p:nvSpPr>
        <p:spPr>
          <a:xfrm>
            <a:off x="3352800" y="1109150"/>
            <a:ext cx="11002403" cy="49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Preparation of Movie Dataset:</a:t>
            </a:r>
          </a:p>
        </p:txBody>
      </p:sp>
      <p:grpSp>
        <p:nvGrpSpPr>
          <p:cNvPr id="4" name="Group 5">
            <a:extLst>
              <a:ext uri="{FF2B5EF4-FFF2-40B4-BE49-F238E27FC236}">
                <a16:creationId xmlns:a16="http://schemas.microsoft.com/office/drawing/2014/main" id="{4BE20202-B7E9-24BC-8E3F-4E0DDDA7747F}"/>
              </a:ext>
            </a:extLst>
          </p:cNvPr>
          <p:cNvGrpSpPr/>
          <p:nvPr/>
        </p:nvGrpSpPr>
        <p:grpSpPr>
          <a:xfrm>
            <a:off x="9448800" y="1917415"/>
            <a:ext cx="6645500" cy="7512605"/>
            <a:chOff x="0" y="0"/>
            <a:chExt cx="4315045" cy="55258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BE82A55-A43C-25B7-B597-6E79AD697D9D}"/>
                </a:ext>
              </a:extLst>
            </p:cNvPr>
            <p:cNvGrpSpPr/>
            <p:nvPr/>
          </p:nvGrpSpPr>
          <p:grpSpPr>
            <a:xfrm>
              <a:off x="0" y="0"/>
              <a:ext cx="4315045" cy="5525885"/>
              <a:chOff x="0" y="0"/>
              <a:chExt cx="852355" cy="1091533"/>
            </a:xfrm>
          </p:grpSpPr>
          <p:sp>
            <p:nvSpPr>
              <p:cNvPr id="11" name="Freeform 7">
                <a:extLst>
                  <a:ext uri="{FF2B5EF4-FFF2-40B4-BE49-F238E27FC236}">
                    <a16:creationId xmlns:a16="http://schemas.microsoft.com/office/drawing/2014/main" id="{9B137B33-68A8-19FB-616E-03993CDBFC7A}"/>
                  </a:ext>
                </a:extLst>
              </p:cNvPr>
              <p:cNvSpPr/>
              <p:nvPr/>
            </p:nvSpPr>
            <p:spPr>
              <a:xfrm>
                <a:off x="0" y="0"/>
                <a:ext cx="852355" cy="1091533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1C89C52B-4529-A05E-83DB-D0419EF93FD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9" name="TextBox 10">
              <a:extLst>
                <a:ext uri="{FF2B5EF4-FFF2-40B4-BE49-F238E27FC236}">
                  <a16:creationId xmlns:a16="http://schemas.microsoft.com/office/drawing/2014/main" id="{EAF7C9F1-A354-505E-AE04-CECF0EDC7989}"/>
                </a:ext>
              </a:extLst>
            </p:cNvPr>
            <p:cNvSpPr txBox="1"/>
            <p:nvPr/>
          </p:nvSpPr>
          <p:spPr>
            <a:xfrm>
              <a:off x="141882" y="585440"/>
              <a:ext cx="4045909" cy="493060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CREATE TABLE movie (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imdbId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VARCHAR(20) PRIMARY KEY,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title VARCHAR(255) NOT NULL,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releaseYear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releaseDate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DATE,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genre VARCHAR(100),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writers TEXT,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actors TEXT,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directors TEXT,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sequel VARCHAR(255),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hitFlop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VARCHAR(50),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actor_id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director_id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INT,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FOREIGN KEY (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actor_id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) REFERENCES actor(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),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  FOREIGN KEY (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director_id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) REFERENCES director(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)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);</a:t>
              </a:r>
            </a:p>
            <a:p>
              <a:pPr>
                <a:lnSpc>
                  <a:spcPts val="2100"/>
                </a:lnSpc>
              </a:pP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INSERT INTO movie (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imdbId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, title,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releaseYear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,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releaseDate,genre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, writers, actors,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directors,sequel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,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hitFlop,actor_id,director_id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)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SELECTimdbId,title,releaseYear,STR_TO_DATE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(NULLIF(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releaseDate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, 'N/A'), '%d-%b-%y'),genre,writers,actors,directors,sequel,hitFlop,actor_id,director_id   FROM </a:t>
              </a:r>
              <a:r>
                <a:rPr lang="en-US" sz="1200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bollywoodmoviedetail</a:t>
              </a:r>
              <a:r>
                <a: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;</a:t>
              </a:r>
              <a:endParaRPr lang="en-US" sz="15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" name="TextBox 11">
              <a:extLst>
                <a:ext uri="{FF2B5EF4-FFF2-40B4-BE49-F238E27FC236}">
                  <a16:creationId xmlns:a16="http://schemas.microsoft.com/office/drawing/2014/main" id="{CEBEA764-DA64-C6BD-2985-8D3D5BDF3A8C}"/>
                </a:ext>
              </a:extLst>
            </p:cNvPr>
            <p:cNvSpPr txBox="1"/>
            <p:nvPr/>
          </p:nvSpPr>
          <p:spPr>
            <a:xfrm>
              <a:off x="420700" y="261349"/>
              <a:ext cx="3248128" cy="2446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Movie Table:</a:t>
              </a:r>
            </a:p>
          </p:txBody>
        </p:sp>
      </p:grpSp>
      <p:sp>
        <p:nvSpPr>
          <p:cNvPr id="3" name="Right Arrow 2">
            <a:extLst>
              <a:ext uri="{FF2B5EF4-FFF2-40B4-BE49-F238E27FC236}">
                <a16:creationId xmlns:a16="http://schemas.microsoft.com/office/drawing/2014/main" id="{433F26B8-5616-5ABB-831C-275C20EAE3A8}"/>
              </a:ext>
            </a:extLst>
          </p:cNvPr>
          <p:cNvSpPr/>
          <p:nvPr/>
        </p:nvSpPr>
        <p:spPr>
          <a:xfrm>
            <a:off x="8144983" y="4796196"/>
            <a:ext cx="978408" cy="484632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795731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D57D8-9BAA-7FA4-20FF-7A2F2E6EC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8DC6679-68DB-6DBC-8E73-ED4990FE05B1}"/>
              </a:ext>
            </a:extLst>
          </p:cNvPr>
          <p:cNvSpPr/>
          <p:nvPr/>
        </p:nvSpPr>
        <p:spPr>
          <a:xfrm>
            <a:off x="-116335" y="5443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2B1FC48-9A58-B92F-54FB-A27C99115BE1}"/>
              </a:ext>
            </a:extLst>
          </p:cNvPr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BB1F59E3-9EFE-1A8F-1F48-5164E9A9D5C3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AED01452-BB2B-D483-3B97-58407693165B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6" name="TextBox 3">
            <a:extLst>
              <a:ext uri="{FF2B5EF4-FFF2-40B4-BE49-F238E27FC236}">
                <a16:creationId xmlns:a16="http://schemas.microsoft.com/office/drawing/2014/main" id="{9F84EDFB-AB16-3C0A-D9AB-B6C10D88A681}"/>
              </a:ext>
            </a:extLst>
          </p:cNvPr>
          <p:cNvSpPr txBox="1"/>
          <p:nvPr/>
        </p:nvSpPr>
        <p:spPr>
          <a:xfrm>
            <a:off x="3337539" y="620410"/>
            <a:ext cx="11002403" cy="49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Description of Tables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A979CA-DB61-9904-373E-B37F283CCB10}"/>
              </a:ext>
            </a:extLst>
          </p:cNvPr>
          <p:cNvGrpSpPr/>
          <p:nvPr/>
        </p:nvGrpSpPr>
        <p:grpSpPr>
          <a:xfrm>
            <a:off x="-200056" y="520273"/>
            <a:ext cx="8445291" cy="7964836"/>
            <a:chOff x="-291891" y="1656382"/>
            <a:chExt cx="8445291" cy="7964836"/>
          </a:xfrm>
        </p:grpSpPr>
        <p:grpSp>
          <p:nvGrpSpPr>
            <p:cNvPr id="67" name="Group 5">
              <a:extLst>
                <a:ext uri="{FF2B5EF4-FFF2-40B4-BE49-F238E27FC236}">
                  <a16:creationId xmlns:a16="http://schemas.microsoft.com/office/drawing/2014/main" id="{2E1E4676-4020-E34D-BEC8-24553FF8E9CB}"/>
                </a:ext>
              </a:extLst>
            </p:cNvPr>
            <p:cNvGrpSpPr/>
            <p:nvPr/>
          </p:nvGrpSpPr>
          <p:grpSpPr>
            <a:xfrm>
              <a:off x="-291891" y="1656382"/>
              <a:ext cx="8445291" cy="7964836"/>
              <a:chOff x="-563605" y="-192881"/>
              <a:chExt cx="5279925" cy="5718766"/>
            </a:xfrm>
          </p:grpSpPr>
          <p:grpSp>
            <p:nvGrpSpPr>
              <p:cNvPr id="68" name="Group 6">
                <a:extLst>
                  <a:ext uri="{FF2B5EF4-FFF2-40B4-BE49-F238E27FC236}">
                    <a16:creationId xmlns:a16="http://schemas.microsoft.com/office/drawing/2014/main" id="{C626F0AD-C664-97F0-FBB8-68C02586D71F}"/>
                  </a:ext>
                </a:extLst>
              </p:cNvPr>
              <p:cNvGrpSpPr/>
              <p:nvPr/>
            </p:nvGrpSpPr>
            <p:grpSpPr>
              <a:xfrm>
                <a:off x="-467461" y="-192881"/>
                <a:ext cx="4782505" cy="5718766"/>
                <a:chOff x="-92338" y="-38100"/>
                <a:chExt cx="944693" cy="1129633"/>
              </a:xfrm>
            </p:grpSpPr>
            <p:sp>
              <p:nvSpPr>
                <p:cNvPr id="71" name="Freeform 7">
                  <a:extLst>
                    <a:ext uri="{FF2B5EF4-FFF2-40B4-BE49-F238E27FC236}">
                      <a16:creationId xmlns:a16="http://schemas.microsoft.com/office/drawing/2014/main" id="{BD29081C-D07D-BB48-817A-16CEEAF20A14}"/>
                    </a:ext>
                  </a:extLst>
                </p:cNvPr>
                <p:cNvSpPr/>
                <p:nvPr/>
              </p:nvSpPr>
              <p:spPr>
                <a:xfrm>
                  <a:off x="-92338" y="67408"/>
                  <a:ext cx="786728" cy="6268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2355" h="1091533">
                      <a:moveTo>
                        <a:pt x="47845" y="0"/>
                      </a:moveTo>
                      <a:lnTo>
                        <a:pt x="804510" y="0"/>
                      </a:lnTo>
                      <a:cubicBezTo>
                        <a:pt x="817199" y="0"/>
                        <a:pt x="829369" y="5041"/>
                        <a:pt x="838341" y="14013"/>
                      </a:cubicBezTo>
                      <a:cubicBezTo>
                        <a:pt x="847314" y="22986"/>
                        <a:pt x="852355" y="35155"/>
                        <a:pt x="852355" y="47845"/>
                      </a:cubicBezTo>
                      <a:lnTo>
                        <a:pt x="852355" y="1043688"/>
                      </a:lnTo>
                      <a:cubicBezTo>
                        <a:pt x="852355" y="1056378"/>
                        <a:pt x="847314" y="1068547"/>
                        <a:pt x="838341" y="1077520"/>
                      </a:cubicBezTo>
                      <a:cubicBezTo>
                        <a:pt x="829369" y="1086492"/>
                        <a:pt x="817199" y="1091533"/>
                        <a:pt x="804510" y="1091533"/>
                      </a:cubicBezTo>
                      <a:lnTo>
                        <a:pt x="47845" y="1091533"/>
                      </a:lnTo>
                      <a:cubicBezTo>
                        <a:pt x="35155" y="1091533"/>
                        <a:pt x="22986" y="1086492"/>
                        <a:pt x="14013" y="1077520"/>
                      </a:cubicBezTo>
                      <a:cubicBezTo>
                        <a:pt x="5041" y="1068547"/>
                        <a:pt x="0" y="1056378"/>
                        <a:pt x="0" y="1043688"/>
                      </a:cubicBezTo>
                      <a:lnTo>
                        <a:pt x="0" y="47845"/>
                      </a:lnTo>
                      <a:cubicBezTo>
                        <a:pt x="0" y="35155"/>
                        <a:pt x="5041" y="22986"/>
                        <a:pt x="14013" y="14013"/>
                      </a:cubicBezTo>
                      <a:cubicBezTo>
                        <a:pt x="22986" y="5041"/>
                        <a:pt x="35155" y="0"/>
                        <a:pt x="47845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2" name="TextBox 8">
                  <a:extLst>
                    <a:ext uri="{FF2B5EF4-FFF2-40B4-BE49-F238E27FC236}">
                      <a16:creationId xmlns:a16="http://schemas.microsoft.com/office/drawing/2014/main" id="{CFBEB108-CE4D-B277-5BC1-3234C90A6070}"/>
                    </a:ext>
                  </a:extLst>
                </p:cNvPr>
                <p:cNvSpPr txBox="1"/>
                <p:nvPr/>
              </p:nvSpPr>
              <p:spPr>
                <a:xfrm>
                  <a:off x="0" y="-38100"/>
                  <a:ext cx="852355" cy="1129633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3111"/>
                    </a:lnSpc>
                  </a:pPr>
                  <a:endParaRPr/>
                </a:p>
              </p:txBody>
            </p:sp>
          </p:grpSp>
          <p:sp>
            <p:nvSpPr>
              <p:cNvPr id="69" name="TextBox 10">
                <a:extLst>
                  <a:ext uri="{FF2B5EF4-FFF2-40B4-BE49-F238E27FC236}">
                    <a16:creationId xmlns:a16="http://schemas.microsoft.com/office/drawing/2014/main" id="{4E82927C-62DF-241B-B7E0-EC32B28FEA10}"/>
                  </a:ext>
                </a:extLst>
              </p:cNvPr>
              <p:cNvSpPr txBox="1"/>
              <p:nvPr/>
            </p:nvSpPr>
            <p:spPr>
              <a:xfrm>
                <a:off x="337807" y="692690"/>
                <a:ext cx="4378513" cy="172322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2100"/>
                  </a:lnSpc>
                </a:pPr>
                <a:endParaRPr lang="en-US" sz="12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9BE90E64-F3A9-8C47-F6C5-DAA2066E76BD}"/>
                  </a:ext>
                </a:extLst>
              </p:cNvPr>
              <p:cNvSpPr txBox="1"/>
              <p:nvPr/>
            </p:nvSpPr>
            <p:spPr>
              <a:xfrm>
                <a:off x="-563605" y="472665"/>
                <a:ext cx="3595854" cy="238847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2800"/>
                  </a:lnSpc>
                </a:pPr>
                <a:r>
                  <a:rPr lang="en-US" sz="2000" b="1" dirty="0">
                    <a:solidFill>
                      <a:srgbClr val="010F1F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Movie Table:</a:t>
                </a:r>
              </a:p>
            </p:txBody>
          </p:sp>
        </p:grp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E999D22-0FFA-6239-4612-A976C8FC9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30924" y="3129767"/>
              <a:ext cx="6303124" cy="3157294"/>
            </a:xfrm>
            <a:prstGeom prst="rect">
              <a:avLst/>
            </a:prstGeom>
          </p:spPr>
        </p:pic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BC06FADB-DE6C-8CD8-7800-046D1F91113F}"/>
              </a:ext>
            </a:extLst>
          </p:cNvPr>
          <p:cNvGrpSpPr/>
          <p:nvPr/>
        </p:nvGrpSpPr>
        <p:grpSpPr>
          <a:xfrm>
            <a:off x="5222109" y="4992156"/>
            <a:ext cx="8445291" cy="7964836"/>
            <a:chOff x="-563605" y="-192881"/>
            <a:chExt cx="5279925" cy="5718766"/>
          </a:xfrm>
        </p:grpSpPr>
        <p:grpSp>
          <p:nvGrpSpPr>
            <p:cNvPr id="11" name="Group 6">
              <a:extLst>
                <a:ext uri="{FF2B5EF4-FFF2-40B4-BE49-F238E27FC236}">
                  <a16:creationId xmlns:a16="http://schemas.microsoft.com/office/drawing/2014/main" id="{67BE50C0-154F-C899-B315-336ECCB7E91A}"/>
                </a:ext>
              </a:extLst>
            </p:cNvPr>
            <p:cNvGrpSpPr/>
            <p:nvPr/>
          </p:nvGrpSpPr>
          <p:grpSpPr>
            <a:xfrm>
              <a:off x="-467461" y="-192881"/>
              <a:ext cx="4782505" cy="5718766"/>
              <a:chOff x="-92338" y="-38100"/>
              <a:chExt cx="944693" cy="1129633"/>
            </a:xfrm>
          </p:grpSpPr>
          <p:sp>
            <p:nvSpPr>
              <p:cNvPr id="14" name="Freeform 7">
                <a:extLst>
                  <a:ext uri="{FF2B5EF4-FFF2-40B4-BE49-F238E27FC236}">
                    <a16:creationId xmlns:a16="http://schemas.microsoft.com/office/drawing/2014/main" id="{6A010D47-9FF5-E7BD-F351-2141F7D0E8A6}"/>
                  </a:ext>
                </a:extLst>
              </p:cNvPr>
              <p:cNvSpPr/>
              <p:nvPr/>
            </p:nvSpPr>
            <p:spPr>
              <a:xfrm>
                <a:off x="-92338" y="67408"/>
                <a:ext cx="786728" cy="626821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:a16="http://schemas.microsoft.com/office/drawing/2014/main" id="{FE463244-F47F-3821-BE55-5DCE29FDCCF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12" name="TextBox 10">
              <a:extLst>
                <a:ext uri="{FF2B5EF4-FFF2-40B4-BE49-F238E27FC236}">
                  <a16:creationId xmlns:a16="http://schemas.microsoft.com/office/drawing/2014/main" id="{25A88F05-7BD2-8E10-D862-BCD3C5D4D80F}"/>
                </a:ext>
              </a:extLst>
            </p:cNvPr>
            <p:cNvSpPr txBox="1"/>
            <p:nvPr/>
          </p:nvSpPr>
          <p:spPr>
            <a:xfrm>
              <a:off x="337807" y="692690"/>
              <a:ext cx="4378513" cy="17232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" name="TextBox 11">
              <a:extLst>
                <a:ext uri="{FF2B5EF4-FFF2-40B4-BE49-F238E27FC236}">
                  <a16:creationId xmlns:a16="http://schemas.microsoft.com/office/drawing/2014/main" id="{89F3E68F-ACA2-4494-E5B6-EDF4704111D7}"/>
                </a:ext>
              </a:extLst>
            </p:cNvPr>
            <p:cNvSpPr txBox="1"/>
            <p:nvPr/>
          </p:nvSpPr>
          <p:spPr>
            <a:xfrm>
              <a:off x="-563605" y="472665"/>
              <a:ext cx="3595854" cy="23884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Director Table: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9D428426-7C76-215E-1D11-11372FA2DAA1}"/>
              </a:ext>
            </a:extLst>
          </p:cNvPr>
          <p:cNvGrpSpPr/>
          <p:nvPr/>
        </p:nvGrpSpPr>
        <p:grpSpPr>
          <a:xfrm>
            <a:off x="11634605" y="621509"/>
            <a:ext cx="8445291" cy="7964836"/>
            <a:chOff x="-563605" y="-192881"/>
            <a:chExt cx="5279925" cy="5718766"/>
          </a:xfrm>
        </p:grpSpPr>
        <p:grpSp>
          <p:nvGrpSpPr>
            <p:cNvPr id="19" name="Group 6">
              <a:extLst>
                <a:ext uri="{FF2B5EF4-FFF2-40B4-BE49-F238E27FC236}">
                  <a16:creationId xmlns:a16="http://schemas.microsoft.com/office/drawing/2014/main" id="{90C60568-0951-9463-C34C-134A0B8AE77F}"/>
                </a:ext>
              </a:extLst>
            </p:cNvPr>
            <p:cNvGrpSpPr/>
            <p:nvPr/>
          </p:nvGrpSpPr>
          <p:grpSpPr>
            <a:xfrm>
              <a:off x="-467461" y="-192881"/>
              <a:ext cx="4782505" cy="5718766"/>
              <a:chOff x="-92338" y="-38100"/>
              <a:chExt cx="944693" cy="1129633"/>
            </a:xfrm>
          </p:grpSpPr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0767CE8E-1E16-CE93-D229-C77FFB69B89A}"/>
                  </a:ext>
                </a:extLst>
              </p:cNvPr>
              <p:cNvSpPr/>
              <p:nvPr/>
            </p:nvSpPr>
            <p:spPr>
              <a:xfrm>
                <a:off x="-92338" y="67408"/>
                <a:ext cx="786728" cy="626821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3" name="TextBox 8">
                <a:extLst>
                  <a:ext uri="{FF2B5EF4-FFF2-40B4-BE49-F238E27FC236}">
                    <a16:creationId xmlns:a16="http://schemas.microsoft.com/office/drawing/2014/main" id="{0EB4EBFD-A272-2034-D3DF-94478CA3646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20" name="TextBox 10">
              <a:extLst>
                <a:ext uri="{FF2B5EF4-FFF2-40B4-BE49-F238E27FC236}">
                  <a16:creationId xmlns:a16="http://schemas.microsoft.com/office/drawing/2014/main" id="{255DE0A1-2D12-5986-1D17-90DF2798A068}"/>
                </a:ext>
              </a:extLst>
            </p:cNvPr>
            <p:cNvSpPr txBox="1"/>
            <p:nvPr/>
          </p:nvSpPr>
          <p:spPr>
            <a:xfrm>
              <a:off x="337807" y="692690"/>
              <a:ext cx="4378513" cy="17232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1" name="TextBox 11">
              <a:extLst>
                <a:ext uri="{FF2B5EF4-FFF2-40B4-BE49-F238E27FC236}">
                  <a16:creationId xmlns:a16="http://schemas.microsoft.com/office/drawing/2014/main" id="{09872380-2DA5-67AD-6700-B325D6F8BB88}"/>
                </a:ext>
              </a:extLst>
            </p:cNvPr>
            <p:cNvSpPr txBox="1"/>
            <p:nvPr/>
          </p:nvSpPr>
          <p:spPr>
            <a:xfrm>
              <a:off x="-563605" y="472665"/>
              <a:ext cx="3595854" cy="23884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Actor Table:</a:t>
              </a: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6985FD0-3FF6-E310-E364-14DB9BE614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53047" y="2459648"/>
            <a:ext cx="6063900" cy="258975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1D6B4D5-F5FB-74D2-2031-9082F73522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5137" y="6544938"/>
            <a:ext cx="6336888" cy="242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816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A4C74-7F60-A474-0F16-37886694C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B443986-CAE0-7140-1EAF-5804322558B1}"/>
              </a:ext>
            </a:extLst>
          </p:cNvPr>
          <p:cNvSpPr/>
          <p:nvPr/>
        </p:nvSpPr>
        <p:spPr>
          <a:xfrm>
            <a:off x="-16329" y="-1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D79AD867-856E-3D51-8F6B-DAD98763A629}"/>
              </a:ext>
            </a:extLst>
          </p:cNvPr>
          <p:cNvSpPr txBox="1"/>
          <p:nvPr/>
        </p:nvSpPr>
        <p:spPr>
          <a:xfrm>
            <a:off x="1143000" y="1325807"/>
            <a:ext cx="4953000" cy="4990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ER Diagram:</a:t>
            </a: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E0625C0-0730-D0A0-F074-784B9B8619FB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FBEEE18-6C28-F3E1-43CD-04F2DAE3AD27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FCF54D-6860-EA8A-3FBE-04E677447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02" y="2115576"/>
            <a:ext cx="8449097" cy="5313924"/>
          </a:xfrm>
          <a:prstGeom prst="rect">
            <a:avLst/>
          </a:prstGeom>
        </p:spPr>
      </p:pic>
      <p:pic>
        <p:nvPicPr>
          <p:cNvPr id="9" name="Picture 8" descr="er_diagram_bollywood.png">
            <a:extLst>
              <a:ext uri="{FF2B5EF4-FFF2-40B4-BE49-F238E27FC236}">
                <a16:creationId xmlns:a16="http://schemas.microsoft.com/office/drawing/2014/main" id="{D633E4A7-9647-884D-7B76-BDDCABC886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199" y="2071798"/>
            <a:ext cx="8229600" cy="6143403"/>
          </a:xfrm>
          <a:prstGeom prst="rect">
            <a:avLst/>
          </a:prstGeom>
        </p:spPr>
      </p:pic>
      <p:sp>
        <p:nvSpPr>
          <p:cNvPr id="10" name="TextBox 3">
            <a:extLst>
              <a:ext uri="{FF2B5EF4-FFF2-40B4-BE49-F238E27FC236}">
                <a16:creationId xmlns:a16="http://schemas.microsoft.com/office/drawing/2014/main" id="{C760139E-82B6-F90D-E48D-687D74224E6C}"/>
              </a:ext>
            </a:extLst>
          </p:cNvPr>
          <p:cNvSpPr txBox="1"/>
          <p:nvPr/>
        </p:nvSpPr>
        <p:spPr>
          <a:xfrm>
            <a:off x="10210800" y="1282030"/>
            <a:ext cx="4953000" cy="4990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Relationship Diagram:</a:t>
            </a:r>
          </a:p>
        </p:txBody>
      </p:sp>
    </p:spTree>
    <p:extLst>
      <p:ext uri="{BB962C8B-B14F-4D97-AF65-F5344CB8AC3E}">
        <p14:creationId xmlns:p14="http://schemas.microsoft.com/office/powerpoint/2010/main" val="1007928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EAD3C-FC41-7C47-E79B-4582042B0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2D3B744-61C0-E275-06F4-631E36E4015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B4F649F9-9911-99F4-1427-8D1E42DB5D05}"/>
              </a:ext>
            </a:extLst>
          </p:cNvPr>
          <p:cNvSpPr txBox="1"/>
          <p:nvPr/>
        </p:nvSpPr>
        <p:spPr>
          <a:xfrm>
            <a:off x="3642799" y="4278408"/>
            <a:ext cx="11002403" cy="49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 ANALYSIS</a:t>
            </a: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E436165-4A5D-264E-29CB-6A2666B431DE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E35E97E3-264B-545D-41E0-FBF350B9D1C9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958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45734-28B3-48D6-29D1-FEFF3C1E2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4F783A0-38ED-3C32-5E4F-1CDED02BCF0F}"/>
              </a:ext>
            </a:extLst>
          </p:cNvPr>
          <p:cNvSpPr/>
          <p:nvPr/>
        </p:nvSpPr>
        <p:spPr>
          <a:xfrm>
            <a:off x="-6906" y="-3265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9AF5D15-FC72-2D55-B956-47330C01CA7B}"/>
              </a:ext>
            </a:extLst>
          </p:cNvPr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D81E0E4D-D873-6F2A-2273-9F64DC857D8B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F4D4A01-3453-C009-E7A9-180D199C1D2D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6" name="TextBox 3">
            <a:extLst>
              <a:ext uri="{FF2B5EF4-FFF2-40B4-BE49-F238E27FC236}">
                <a16:creationId xmlns:a16="http://schemas.microsoft.com/office/drawing/2014/main" id="{466403D8-BAE9-5227-87E6-3859413C0D9F}"/>
              </a:ext>
            </a:extLst>
          </p:cNvPr>
          <p:cNvSpPr txBox="1"/>
          <p:nvPr/>
        </p:nvSpPr>
        <p:spPr>
          <a:xfrm>
            <a:off x="3352800" y="1109150"/>
            <a:ext cx="11002403" cy="49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 Cleansing</a:t>
            </a:r>
          </a:p>
        </p:txBody>
      </p:sp>
      <p:grpSp>
        <p:nvGrpSpPr>
          <p:cNvPr id="67" name="Group 5">
            <a:extLst>
              <a:ext uri="{FF2B5EF4-FFF2-40B4-BE49-F238E27FC236}">
                <a16:creationId xmlns:a16="http://schemas.microsoft.com/office/drawing/2014/main" id="{EAF03272-0374-B755-C286-AF3A99D27108}"/>
              </a:ext>
            </a:extLst>
          </p:cNvPr>
          <p:cNvGrpSpPr/>
          <p:nvPr/>
        </p:nvGrpSpPr>
        <p:grpSpPr>
          <a:xfrm>
            <a:off x="304800" y="2368787"/>
            <a:ext cx="17394335" cy="6377610"/>
            <a:chOff x="0" y="0"/>
            <a:chExt cx="4315045" cy="5525885"/>
          </a:xfrm>
        </p:grpSpPr>
        <p:grpSp>
          <p:nvGrpSpPr>
            <p:cNvPr id="68" name="Group 6">
              <a:extLst>
                <a:ext uri="{FF2B5EF4-FFF2-40B4-BE49-F238E27FC236}">
                  <a16:creationId xmlns:a16="http://schemas.microsoft.com/office/drawing/2014/main" id="{82630152-7436-CC0C-482C-0BA07970E16D}"/>
                </a:ext>
              </a:extLst>
            </p:cNvPr>
            <p:cNvGrpSpPr/>
            <p:nvPr/>
          </p:nvGrpSpPr>
          <p:grpSpPr>
            <a:xfrm>
              <a:off x="0" y="0"/>
              <a:ext cx="4315045" cy="5525885"/>
              <a:chOff x="0" y="0"/>
              <a:chExt cx="852355" cy="1091533"/>
            </a:xfrm>
          </p:grpSpPr>
          <p:sp>
            <p:nvSpPr>
              <p:cNvPr id="71" name="Freeform 7">
                <a:extLst>
                  <a:ext uri="{FF2B5EF4-FFF2-40B4-BE49-F238E27FC236}">
                    <a16:creationId xmlns:a16="http://schemas.microsoft.com/office/drawing/2014/main" id="{9529A74A-63B1-EF57-7CE2-651CFCCCED58}"/>
                  </a:ext>
                </a:extLst>
              </p:cNvPr>
              <p:cNvSpPr/>
              <p:nvPr/>
            </p:nvSpPr>
            <p:spPr>
              <a:xfrm>
                <a:off x="0" y="0"/>
                <a:ext cx="852355" cy="1091533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2" name="TextBox 8">
                <a:extLst>
                  <a:ext uri="{FF2B5EF4-FFF2-40B4-BE49-F238E27FC236}">
                    <a16:creationId xmlns:a16="http://schemas.microsoft.com/office/drawing/2014/main" id="{C1BD012C-9A82-390D-EE89-0FD82D4FB76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69" name="TextBox 10">
              <a:extLst>
                <a:ext uri="{FF2B5EF4-FFF2-40B4-BE49-F238E27FC236}">
                  <a16:creationId xmlns:a16="http://schemas.microsoft.com/office/drawing/2014/main" id="{B0C675E0-57AA-6C4F-417C-0D811A7E9CAC}"/>
                </a:ext>
              </a:extLst>
            </p:cNvPr>
            <p:cNvSpPr txBox="1"/>
            <p:nvPr/>
          </p:nvSpPr>
          <p:spPr>
            <a:xfrm>
              <a:off x="332077" y="533131"/>
              <a:ext cx="3637094" cy="20795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70" name="TextBox 11">
              <a:extLst>
                <a:ext uri="{FF2B5EF4-FFF2-40B4-BE49-F238E27FC236}">
                  <a16:creationId xmlns:a16="http://schemas.microsoft.com/office/drawing/2014/main" id="{B6BBF30F-914B-673D-7206-8BF924C7B6E0}"/>
                </a:ext>
              </a:extLst>
            </p:cNvPr>
            <p:cNvSpPr txBox="1"/>
            <p:nvPr/>
          </p:nvSpPr>
          <p:spPr>
            <a:xfrm>
              <a:off x="101266" y="197863"/>
              <a:ext cx="3595854" cy="2882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Data Validation to Identify Duplicate:</a:t>
              </a:r>
            </a:p>
          </p:txBody>
        </p:sp>
      </p:grpSp>
      <p:sp>
        <p:nvSpPr>
          <p:cNvPr id="79" name="TextBox 11">
            <a:extLst>
              <a:ext uri="{FF2B5EF4-FFF2-40B4-BE49-F238E27FC236}">
                <a16:creationId xmlns:a16="http://schemas.microsoft.com/office/drawing/2014/main" id="{AB34BB35-8132-ECDB-B573-1AA0204E0C63}"/>
              </a:ext>
            </a:extLst>
          </p:cNvPr>
          <p:cNvSpPr txBox="1"/>
          <p:nvPr/>
        </p:nvSpPr>
        <p:spPr>
          <a:xfrm>
            <a:off x="1157918" y="1997881"/>
            <a:ext cx="12569713" cy="332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Analysis of Director Dataset is done to check if there is any inconsistent data</a:t>
            </a:r>
            <a:endParaRPr lang="en-US" sz="1400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40C8E7-EF9C-0B10-5FA4-2962E6116E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45" y="2978785"/>
            <a:ext cx="7772400" cy="1611113"/>
          </a:xfrm>
          <a:prstGeom prst="rect">
            <a:avLst/>
          </a:prstGeom>
        </p:spPr>
      </p:pic>
      <p:sp>
        <p:nvSpPr>
          <p:cNvPr id="4" name="TextBox 11">
            <a:extLst>
              <a:ext uri="{FF2B5EF4-FFF2-40B4-BE49-F238E27FC236}">
                <a16:creationId xmlns:a16="http://schemas.microsoft.com/office/drawing/2014/main" id="{BAA36F12-BC5F-D4A2-795A-0577306695EE}"/>
              </a:ext>
            </a:extLst>
          </p:cNvPr>
          <p:cNvSpPr txBox="1"/>
          <p:nvPr/>
        </p:nvSpPr>
        <p:spPr>
          <a:xfrm>
            <a:off x="565044" y="4686958"/>
            <a:ext cx="14495211" cy="332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 b="1" dirty="0">
                <a:solidFill>
                  <a:srgbClr val="010F1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Impact Analysis of  Duplicate Data In Main Movie: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E7A7A6-E4EE-8385-0233-5B581A3E434A}"/>
              </a:ext>
            </a:extLst>
          </p:cNvPr>
          <p:cNvSpPr txBox="1"/>
          <p:nvPr/>
        </p:nvSpPr>
        <p:spPr>
          <a:xfrm>
            <a:off x="565044" y="5116673"/>
            <a:ext cx="94297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#</a:t>
            </a:r>
            <a:r>
              <a:rPr lang="en-US" b="1" dirty="0"/>
              <a:t>checking if matching records exist in master table and deleting that data</a:t>
            </a:r>
          </a:p>
          <a:p>
            <a:endParaRPr lang="en-US" b="1" dirty="0"/>
          </a:p>
          <a:p>
            <a:endParaRPr lang="en-US" b="1" dirty="0"/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C2D33F-BB4C-C47C-BBE8-3A19B8D52D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079" y="5440856"/>
            <a:ext cx="14687780" cy="2319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352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85191-36F0-E84F-F85B-A6F03E33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9F53CBD-6091-0FF3-0AA1-14DDC773BE84}"/>
              </a:ext>
            </a:extLst>
          </p:cNvPr>
          <p:cNvSpPr/>
          <p:nvPr/>
        </p:nvSpPr>
        <p:spPr>
          <a:xfrm>
            <a:off x="-6906" y="-3265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F96399B-F5A4-B1D8-C9DB-911E1076DF64}"/>
              </a:ext>
            </a:extLst>
          </p:cNvPr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9960AB81-5675-8019-8234-8719D224C651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389D6CB8-F939-852E-4715-B970F2D843D2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6" name="TextBox 3">
            <a:extLst>
              <a:ext uri="{FF2B5EF4-FFF2-40B4-BE49-F238E27FC236}">
                <a16:creationId xmlns:a16="http://schemas.microsoft.com/office/drawing/2014/main" id="{6E9D6EBD-79D7-D502-89EB-834023449A79}"/>
              </a:ext>
            </a:extLst>
          </p:cNvPr>
          <p:cNvSpPr txBox="1"/>
          <p:nvPr/>
        </p:nvSpPr>
        <p:spPr>
          <a:xfrm>
            <a:off x="3352800" y="1109150"/>
            <a:ext cx="11002403" cy="49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 Cleansing..</a:t>
            </a:r>
            <a:r>
              <a:rPr lang="en-US" sz="3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contd</a:t>
            </a:r>
            <a:endParaRPr lang="en-US" sz="3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grpSp>
        <p:nvGrpSpPr>
          <p:cNvPr id="67" name="Group 5">
            <a:extLst>
              <a:ext uri="{FF2B5EF4-FFF2-40B4-BE49-F238E27FC236}">
                <a16:creationId xmlns:a16="http://schemas.microsoft.com/office/drawing/2014/main" id="{3169AA6D-0816-5C1B-21E1-57738F3A71BD}"/>
              </a:ext>
            </a:extLst>
          </p:cNvPr>
          <p:cNvGrpSpPr/>
          <p:nvPr/>
        </p:nvGrpSpPr>
        <p:grpSpPr>
          <a:xfrm>
            <a:off x="304800" y="2350063"/>
            <a:ext cx="17394335" cy="6377610"/>
            <a:chOff x="0" y="0"/>
            <a:chExt cx="4315045" cy="5525885"/>
          </a:xfrm>
        </p:grpSpPr>
        <p:grpSp>
          <p:nvGrpSpPr>
            <p:cNvPr id="68" name="Group 6">
              <a:extLst>
                <a:ext uri="{FF2B5EF4-FFF2-40B4-BE49-F238E27FC236}">
                  <a16:creationId xmlns:a16="http://schemas.microsoft.com/office/drawing/2014/main" id="{924151E6-64F4-48B4-A499-C1213B056B65}"/>
                </a:ext>
              </a:extLst>
            </p:cNvPr>
            <p:cNvGrpSpPr/>
            <p:nvPr/>
          </p:nvGrpSpPr>
          <p:grpSpPr>
            <a:xfrm>
              <a:off x="0" y="0"/>
              <a:ext cx="4315045" cy="5525885"/>
              <a:chOff x="0" y="0"/>
              <a:chExt cx="852355" cy="1091533"/>
            </a:xfrm>
          </p:grpSpPr>
          <p:sp>
            <p:nvSpPr>
              <p:cNvPr id="71" name="Freeform 7">
                <a:extLst>
                  <a:ext uri="{FF2B5EF4-FFF2-40B4-BE49-F238E27FC236}">
                    <a16:creationId xmlns:a16="http://schemas.microsoft.com/office/drawing/2014/main" id="{60107303-BC21-9E32-B926-996216E54F15}"/>
                  </a:ext>
                </a:extLst>
              </p:cNvPr>
              <p:cNvSpPr/>
              <p:nvPr/>
            </p:nvSpPr>
            <p:spPr>
              <a:xfrm>
                <a:off x="0" y="0"/>
                <a:ext cx="852355" cy="1091533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2" name="TextBox 8">
                <a:extLst>
                  <a:ext uri="{FF2B5EF4-FFF2-40B4-BE49-F238E27FC236}">
                    <a16:creationId xmlns:a16="http://schemas.microsoft.com/office/drawing/2014/main" id="{4A0D822B-CA93-BF34-7738-7783DA01472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69" name="TextBox 10">
              <a:extLst>
                <a:ext uri="{FF2B5EF4-FFF2-40B4-BE49-F238E27FC236}">
                  <a16:creationId xmlns:a16="http://schemas.microsoft.com/office/drawing/2014/main" id="{5AB7C1D8-159F-1025-6D1E-3BC40B1645A3}"/>
                </a:ext>
              </a:extLst>
            </p:cNvPr>
            <p:cNvSpPr txBox="1"/>
            <p:nvPr/>
          </p:nvSpPr>
          <p:spPr>
            <a:xfrm>
              <a:off x="332077" y="533131"/>
              <a:ext cx="3637094" cy="20795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70" name="TextBox 11">
              <a:extLst>
                <a:ext uri="{FF2B5EF4-FFF2-40B4-BE49-F238E27FC236}">
                  <a16:creationId xmlns:a16="http://schemas.microsoft.com/office/drawing/2014/main" id="{79BB4B68-C10D-EAEB-BED0-41485ACB293D}"/>
                </a:ext>
              </a:extLst>
            </p:cNvPr>
            <p:cNvSpPr txBox="1"/>
            <p:nvPr/>
          </p:nvSpPr>
          <p:spPr>
            <a:xfrm>
              <a:off x="101266" y="197863"/>
              <a:ext cx="3595854" cy="2882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Query to Delete Duplicate:</a:t>
              </a: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5387DDA2-696B-FB71-16B7-581BFE35A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422" y="3126316"/>
            <a:ext cx="16302672" cy="2094226"/>
          </a:xfrm>
          <a:prstGeom prst="rect">
            <a:avLst/>
          </a:prstGeom>
        </p:spPr>
      </p:pic>
      <p:sp>
        <p:nvSpPr>
          <p:cNvPr id="11" name="TextBox 11">
            <a:extLst>
              <a:ext uri="{FF2B5EF4-FFF2-40B4-BE49-F238E27FC236}">
                <a16:creationId xmlns:a16="http://schemas.microsoft.com/office/drawing/2014/main" id="{1D5DAA4F-2444-69EE-0482-372BFBEE7FAD}"/>
              </a:ext>
            </a:extLst>
          </p:cNvPr>
          <p:cNvSpPr txBox="1"/>
          <p:nvPr/>
        </p:nvSpPr>
        <p:spPr>
          <a:xfrm>
            <a:off x="713012" y="5579679"/>
            <a:ext cx="14495211" cy="332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 b="1" dirty="0">
                <a:solidFill>
                  <a:srgbClr val="010F1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Verify The Deletion 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4C77F5E-EF94-575B-8346-51EC698721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422" y="6153028"/>
            <a:ext cx="14828513" cy="1416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796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84587-4411-0F51-83CF-77959672F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5B742C3-4A0D-46A3-644D-29604B5D53BA}"/>
              </a:ext>
            </a:extLst>
          </p:cNvPr>
          <p:cNvSpPr/>
          <p:nvPr/>
        </p:nvSpPr>
        <p:spPr>
          <a:xfrm>
            <a:off x="-6906" y="-3265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6AD7D06-0160-A41A-1872-D2315454EE9F}"/>
              </a:ext>
            </a:extLst>
          </p:cNvPr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ECEF6785-EC46-FE22-FB37-0FC2FE5BEA94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48B64754-4601-5F42-2B58-90210E0F5A30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6" name="TextBox 3">
            <a:extLst>
              <a:ext uri="{FF2B5EF4-FFF2-40B4-BE49-F238E27FC236}">
                <a16:creationId xmlns:a16="http://schemas.microsoft.com/office/drawing/2014/main" id="{0E5CF85B-40B4-BE88-D163-53B7F7DE256C}"/>
              </a:ext>
            </a:extLst>
          </p:cNvPr>
          <p:cNvSpPr txBox="1"/>
          <p:nvPr/>
        </p:nvSpPr>
        <p:spPr>
          <a:xfrm>
            <a:off x="3352800" y="1109150"/>
            <a:ext cx="11002403" cy="510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IN" sz="3000" b="1" dirty="0">
                <a:solidFill>
                  <a:srgbClr val="FFFFFF"/>
                </a:solidFill>
                <a:latin typeface="Montserrat Bold"/>
              </a:rPr>
              <a:t>Descriptive Statistics</a:t>
            </a:r>
            <a:r>
              <a:rPr lang="en-US" sz="3000" b="1" dirty="0">
                <a:solidFill>
                  <a:srgbClr val="FFFFFF"/>
                </a:solidFill>
                <a:latin typeface="Montserrat Bold"/>
              </a:rPr>
              <a:t> </a:t>
            </a:r>
            <a:endParaRPr lang="en-US" sz="3000" b="1" dirty="0">
              <a:solidFill>
                <a:srgbClr val="FFFFFF"/>
              </a:solidFill>
              <a:latin typeface="Montserrat Bold"/>
              <a:sym typeface="Montserrat Bold"/>
            </a:endParaRPr>
          </a:p>
        </p:txBody>
      </p:sp>
      <p:grpSp>
        <p:nvGrpSpPr>
          <p:cNvPr id="67" name="Group 5">
            <a:extLst>
              <a:ext uri="{FF2B5EF4-FFF2-40B4-BE49-F238E27FC236}">
                <a16:creationId xmlns:a16="http://schemas.microsoft.com/office/drawing/2014/main" id="{5D9AB777-3BEE-35E3-7502-C8879C85C2BA}"/>
              </a:ext>
            </a:extLst>
          </p:cNvPr>
          <p:cNvGrpSpPr/>
          <p:nvPr/>
        </p:nvGrpSpPr>
        <p:grpSpPr>
          <a:xfrm>
            <a:off x="156833" y="2350063"/>
            <a:ext cx="17394335" cy="6377610"/>
            <a:chOff x="0" y="0"/>
            <a:chExt cx="4315045" cy="5525885"/>
          </a:xfrm>
        </p:grpSpPr>
        <p:grpSp>
          <p:nvGrpSpPr>
            <p:cNvPr id="68" name="Group 6">
              <a:extLst>
                <a:ext uri="{FF2B5EF4-FFF2-40B4-BE49-F238E27FC236}">
                  <a16:creationId xmlns:a16="http://schemas.microsoft.com/office/drawing/2014/main" id="{431B55ED-1B4C-59A6-A872-9081954A6371}"/>
                </a:ext>
              </a:extLst>
            </p:cNvPr>
            <p:cNvGrpSpPr/>
            <p:nvPr/>
          </p:nvGrpSpPr>
          <p:grpSpPr>
            <a:xfrm>
              <a:off x="0" y="0"/>
              <a:ext cx="4315045" cy="5525885"/>
              <a:chOff x="0" y="0"/>
              <a:chExt cx="852355" cy="1091533"/>
            </a:xfrm>
          </p:grpSpPr>
          <p:sp>
            <p:nvSpPr>
              <p:cNvPr id="71" name="Freeform 7">
                <a:extLst>
                  <a:ext uri="{FF2B5EF4-FFF2-40B4-BE49-F238E27FC236}">
                    <a16:creationId xmlns:a16="http://schemas.microsoft.com/office/drawing/2014/main" id="{F7C41669-7330-E3D8-61DB-275F3AFAE27D}"/>
                  </a:ext>
                </a:extLst>
              </p:cNvPr>
              <p:cNvSpPr/>
              <p:nvPr/>
            </p:nvSpPr>
            <p:spPr>
              <a:xfrm>
                <a:off x="0" y="0"/>
                <a:ext cx="852355" cy="1091533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2" name="TextBox 8">
                <a:extLst>
                  <a:ext uri="{FF2B5EF4-FFF2-40B4-BE49-F238E27FC236}">
                    <a16:creationId xmlns:a16="http://schemas.microsoft.com/office/drawing/2014/main" id="{C734F8FF-D28D-AD95-AB33-101FE6C206C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69" name="TextBox 10">
              <a:extLst>
                <a:ext uri="{FF2B5EF4-FFF2-40B4-BE49-F238E27FC236}">
                  <a16:creationId xmlns:a16="http://schemas.microsoft.com/office/drawing/2014/main" id="{CF48DC4C-A739-0E6C-F507-27EBFABFD68A}"/>
                </a:ext>
              </a:extLst>
            </p:cNvPr>
            <p:cNvSpPr txBox="1"/>
            <p:nvPr/>
          </p:nvSpPr>
          <p:spPr>
            <a:xfrm>
              <a:off x="332077" y="533131"/>
              <a:ext cx="3637094" cy="20795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70" name="TextBox 11">
              <a:extLst>
                <a:ext uri="{FF2B5EF4-FFF2-40B4-BE49-F238E27FC236}">
                  <a16:creationId xmlns:a16="http://schemas.microsoft.com/office/drawing/2014/main" id="{55312830-CFED-3A07-3D9D-9AA9093F50C2}"/>
                </a:ext>
              </a:extLst>
            </p:cNvPr>
            <p:cNvSpPr txBox="1"/>
            <p:nvPr/>
          </p:nvSpPr>
          <p:spPr>
            <a:xfrm>
              <a:off x="101266" y="197863"/>
              <a:ext cx="3595854" cy="2882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Data Validation to Identify Duplicate:</a:t>
              </a:r>
            </a:p>
          </p:txBody>
        </p:sp>
      </p:grpSp>
      <p:sp>
        <p:nvSpPr>
          <p:cNvPr id="79" name="TextBox 11">
            <a:extLst>
              <a:ext uri="{FF2B5EF4-FFF2-40B4-BE49-F238E27FC236}">
                <a16:creationId xmlns:a16="http://schemas.microsoft.com/office/drawing/2014/main" id="{B8CBD1CD-CBBD-4442-EE8C-6A521D42C04E}"/>
              </a:ext>
            </a:extLst>
          </p:cNvPr>
          <p:cNvSpPr txBox="1"/>
          <p:nvPr/>
        </p:nvSpPr>
        <p:spPr>
          <a:xfrm>
            <a:off x="1157918" y="1997881"/>
            <a:ext cx="12569713" cy="332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Analysis of Director Dataset is done to check if there is any inconsistent data</a:t>
            </a:r>
            <a:endParaRPr lang="en-US" sz="1400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F9DD731C-9D7E-41F8-D608-5121A8574D2F}"/>
              </a:ext>
            </a:extLst>
          </p:cNvPr>
          <p:cNvSpPr txBox="1"/>
          <p:nvPr/>
        </p:nvSpPr>
        <p:spPr>
          <a:xfrm>
            <a:off x="565044" y="4686958"/>
            <a:ext cx="14495211" cy="332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 b="1" dirty="0">
                <a:solidFill>
                  <a:srgbClr val="010F1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Impact :</a:t>
            </a:r>
          </a:p>
        </p:txBody>
      </p:sp>
    </p:spTree>
    <p:extLst>
      <p:ext uri="{BB962C8B-B14F-4D97-AF65-F5344CB8AC3E}">
        <p14:creationId xmlns:p14="http://schemas.microsoft.com/office/powerpoint/2010/main" val="891290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EBE47-51CD-AD8B-DEE6-0F6A2E162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888F6B-19B8-1A5A-2084-0842E49C67A1}"/>
              </a:ext>
            </a:extLst>
          </p:cNvPr>
          <p:cNvSpPr/>
          <p:nvPr/>
        </p:nvSpPr>
        <p:spPr>
          <a:xfrm>
            <a:off x="-6906" y="-3265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591AD84-2E15-7351-EB00-42530833A71C}"/>
              </a:ext>
            </a:extLst>
          </p:cNvPr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CA53E97-42E9-F67B-D6F8-DB9FB053E5EB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E57B06B-A278-C3D0-B400-B2CA868DA425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6" name="TextBox 3">
            <a:extLst>
              <a:ext uri="{FF2B5EF4-FFF2-40B4-BE49-F238E27FC236}">
                <a16:creationId xmlns:a16="http://schemas.microsoft.com/office/drawing/2014/main" id="{C1711B84-D948-8BEA-AE3A-65BB11048D89}"/>
              </a:ext>
            </a:extLst>
          </p:cNvPr>
          <p:cNvSpPr txBox="1"/>
          <p:nvPr/>
        </p:nvSpPr>
        <p:spPr>
          <a:xfrm>
            <a:off x="3352800" y="1109150"/>
            <a:ext cx="11002403" cy="510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IN" sz="3000" b="1" dirty="0">
                <a:solidFill>
                  <a:schemeClr val="bg1"/>
                </a:solidFill>
                <a:latin typeface="Montserrat Bold"/>
              </a:rPr>
              <a:t>Aggregation and Grouping</a:t>
            </a:r>
            <a:r>
              <a:rPr lang="en-US" sz="3000" b="1" dirty="0">
                <a:solidFill>
                  <a:schemeClr val="bg1"/>
                </a:solidFill>
                <a:latin typeface="Montserrat Bold"/>
              </a:rPr>
              <a:t> </a:t>
            </a:r>
            <a:endParaRPr lang="en-US" sz="3000" b="1" dirty="0">
              <a:solidFill>
                <a:schemeClr val="bg1"/>
              </a:solidFill>
              <a:latin typeface="Montserrat Bold"/>
              <a:sym typeface="Montserrat Bold"/>
            </a:endParaRPr>
          </a:p>
        </p:txBody>
      </p:sp>
      <p:sp>
        <p:nvSpPr>
          <p:cNvPr id="79" name="TextBox 11">
            <a:extLst>
              <a:ext uri="{FF2B5EF4-FFF2-40B4-BE49-F238E27FC236}">
                <a16:creationId xmlns:a16="http://schemas.microsoft.com/office/drawing/2014/main" id="{AB7EAE7B-8F46-16C3-72AA-763352CC493E}"/>
              </a:ext>
            </a:extLst>
          </p:cNvPr>
          <p:cNvSpPr txBox="1"/>
          <p:nvPr/>
        </p:nvSpPr>
        <p:spPr>
          <a:xfrm>
            <a:off x="1157918" y="1997881"/>
            <a:ext cx="12569713" cy="332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15 Topmost Actors with Highest Number Hits:</a:t>
            </a:r>
            <a:endParaRPr lang="en-US" sz="1400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06FE0F-1712-198C-3214-8D70859F81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050" y="2624965"/>
            <a:ext cx="9522750" cy="6967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967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4138C-0ECD-AAED-4880-231EEA71C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CBBA7CC-C2FE-F2D6-EC62-F02BF83F63BE}"/>
              </a:ext>
            </a:extLst>
          </p:cNvPr>
          <p:cNvSpPr/>
          <p:nvPr/>
        </p:nvSpPr>
        <p:spPr>
          <a:xfrm>
            <a:off x="-6906" y="-3265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A2C9C10-1DE6-825B-D964-9D50F8B70F60}"/>
              </a:ext>
            </a:extLst>
          </p:cNvPr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71C2AA0-6435-F6C1-7B86-09BF9DBA572E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6F7CCA5-2243-5527-41F9-83D79892BAA9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6" name="TextBox 3">
            <a:extLst>
              <a:ext uri="{FF2B5EF4-FFF2-40B4-BE49-F238E27FC236}">
                <a16:creationId xmlns:a16="http://schemas.microsoft.com/office/drawing/2014/main" id="{E18B7382-08F2-6D6B-405D-86C634BFEC14}"/>
              </a:ext>
            </a:extLst>
          </p:cNvPr>
          <p:cNvSpPr txBox="1"/>
          <p:nvPr/>
        </p:nvSpPr>
        <p:spPr>
          <a:xfrm>
            <a:off x="3352800" y="1109150"/>
            <a:ext cx="11002403" cy="510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IN" sz="3000" b="1" dirty="0">
                <a:solidFill>
                  <a:schemeClr val="bg1"/>
                </a:solidFill>
                <a:latin typeface="Montserrat Bold"/>
              </a:rPr>
              <a:t>Joins and Relationships</a:t>
            </a:r>
            <a:r>
              <a:rPr lang="en-US" sz="3000" b="1" dirty="0">
                <a:solidFill>
                  <a:schemeClr val="bg1"/>
                </a:solidFill>
                <a:latin typeface="Montserrat Bold"/>
              </a:rPr>
              <a:t>  </a:t>
            </a:r>
            <a:endParaRPr lang="en-US" sz="3000" b="1" dirty="0">
              <a:solidFill>
                <a:schemeClr val="bg1"/>
              </a:solidFill>
              <a:latin typeface="Montserrat Bold"/>
              <a:sym typeface="Montserrat Bold"/>
            </a:endParaRPr>
          </a:p>
        </p:txBody>
      </p:sp>
      <p:sp>
        <p:nvSpPr>
          <p:cNvPr id="79" name="TextBox 11">
            <a:extLst>
              <a:ext uri="{FF2B5EF4-FFF2-40B4-BE49-F238E27FC236}">
                <a16:creationId xmlns:a16="http://schemas.microsoft.com/office/drawing/2014/main" id="{CA7C5543-0CD2-CF62-A904-94414777D1F4}"/>
              </a:ext>
            </a:extLst>
          </p:cNvPr>
          <p:cNvSpPr txBox="1"/>
          <p:nvPr/>
        </p:nvSpPr>
        <p:spPr>
          <a:xfrm>
            <a:off x="1069050" y="2041575"/>
            <a:ext cx="12569713" cy="332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Join Movies with Actor and Director Rankings to List Movies acted by Highest Rated Actors :</a:t>
            </a:r>
            <a:endParaRPr lang="en-US" sz="1400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8D6B95-B355-7DEF-7484-FCDEBE7B94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050" y="2456627"/>
            <a:ext cx="12904762" cy="7561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6763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42E67-6306-C0B2-950D-F363BF52E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99B8DF2-EC87-2410-DAE0-716700A3F1E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8AB426B4-C2C4-C32F-756E-FBEBDDDCB59E}"/>
              </a:ext>
            </a:extLst>
          </p:cNvPr>
          <p:cNvSpPr txBox="1"/>
          <p:nvPr/>
        </p:nvSpPr>
        <p:spPr>
          <a:xfrm>
            <a:off x="3642799" y="4278408"/>
            <a:ext cx="11002403" cy="510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IN" sz="32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SUBQUERIES AND CTE’s </a:t>
            </a:r>
            <a:endParaRPr lang="en-US" sz="3200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DC24C50-2BB5-2758-E72E-98802AE793AB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02AAD2E-C29B-71C9-1B5B-18E9FAB18D82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045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3E5F1-DBD9-84CC-101D-1488B4A6D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4F81090-8903-9259-40A3-7C7629DADB4A}"/>
              </a:ext>
            </a:extLst>
          </p:cNvPr>
          <p:cNvSpPr/>
          <p:nvPr/>
        </p:nvSpPr>
        <p:spPr>
          <a:xfrm>
            <a:off x="-6906" y="-3265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555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83CB3A03-0D1D-5F34-FE1E-3204A51085DD}"/>
              </a:ext>
            </a:extLst>
          </p:cNvPr>
          <p:cNvSpPr txBox="1"/>
          <p:nvPr/>
        </p:nvSpPr>
        <p:spPr>
          <a:xfrm>
            <a:off x="304800" y="-177318"/>
            <a:ext cx="18288000" cy="104316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111"/>
              </a:lnSpc>
            </a:pPr>
            <a:endParaRPr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9FDB24E9-A7BC-D4D1-6DB0-CC01EBF7586E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41D1EA43-EADE-BEAF-4EFB-EA2BAF3D7C42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6" name="TextBox 3">
            <a:extLst>
              <a:ext uri="{FF2B5EF4-FFF2-40B4-BE49-F238E27FC236}">
                <a16:creationId xmlns:a16="http://schemas.microsoft.com/office/drawing/2014/main" id="{4F212908-DBD4-B004-D0A4-7BF65B819F74}"/>
              </a:ext>
            </a:extLst>
          </p:cNvPr>
          <p:cNvSpPr txBox="1"/>
          <p:nvPr/>
        </p:nvSpPr>
        <p:spPr>
          <a:xfrm>
            <a:off x="3352800" y="1109150"/>
            <a:ext cx="11002403" cy="49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Dataset Details..</a:t>
            </a:r>
            <a:r>
              <a:rPr lang="en-US" sz="3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contd</a:t>
            </a:r>
            <a:endParaRPr lang="en-US" sz="3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grpSp>
        <p:nvGrpSpPr>
          <p:cNvPr id="67" name="Group 5">
            <a:extLst>
              <a:ext uri="{FF2B5EF4-FFF2-40B4-BE49-F238E27FC236}">
                <a16:creationId xmlns:a16="http://schemas.microsoft.com/office/drawing/2014/main" id="{605370E2-5252-4945-F3C1-B93EF05DF85C}"/>
              </a:ext>
            </a:extLst>
          </p:cNvPr>
          <p:cNvGrpSpPr/>
          <p:nvPr/>
        </p:nvGrpSpPr>
        <p:grpSpPr>
          <a:xfrm>
            <a:off x="609600" y="2781301"/>
            <a:ext cx="17394335" cy="6377610"/>
            <a:chOff x="0" y="0"/>
            <a:chExt cx="4315045" cy="5525885"/>
          </a:xfrm>
        </p:grpSpPr>
        <p:grpSp>
          <p:nvGrpSpPr>
            <p:cNvPr id="68" name="Group 6">
              <a:extLst>
                <a:ext uri="{FF2B5EF4-FFF2-40B4-BE49-F238E27FC236}">
                  <a16:creationId xmlns:a16="http://schemas.microsoft.com/office/drawing/2014/main" id="{ABB1F7DF-594A-7AEE-3704-88DA3D67F77C}"/>
                </a:ext>
              </a:extLst>
            </p:cNvPr>
            <p:cNvGrpSpPr/>
            <p:nvPr/>
          </p:nvGrpSpPr>
          <p:grpSpPr>
            <a:xfrm>
              <a:off x="0" y="0"/>
              <a:ext cx="4315045" cy="5525885"/>
              <a:chOff x="0" y="0"/>
              <a:chExt cx="852355" cy="1091533"/>
            </a:xfrm>
          </p:grpSpPr>
          <p:sp>
            <p:nvSpPr>
              <p:cNvPr id="71" name="Freeform 7">
                <a:extLst>
                  <a:ext uri="{FF2B5EF4-FFF2-40B4-BE49-F238E27FC236}">
                    <a16:creationId xmlns:a16="http://schemas.microsoft.com/office/drawing/2014/main" id="{2C4CC1B3-DDBF-8F21-1C91-3AE3F4E801CB}"/>
                  </a:ext>
                </a:extLst>
              </p:cNvPr>
              <p:cNvSpPr/>
              <p:nvPr/>
            </p:nvSpPr>
            <p:spPr>
              <a:xfrm>
                <a:off x="0" y="0"/>
                <a:ext cx="852355" cy="1091533"/>
              </a:xfrm>
              <a:custGeom>
                <a:avLst/>
                <a:gdLst/>
                <a:ahLst/>
                <a:cxnLst/>
                <a:rect l="l" t="t" r="r" b="b"/>
                <a:pathLst>
                  <a:path w="852355" h="1091533">
                    <a:moveTo>
                      <a:pt x="47845" y="0"/>
                    </a:moveTo>
                    <a:lnTo>
                      <a:pt x="804510" y="0"/>
                    </a:lnTo>
                    <a:cubicBezTo>
                      <a:pt x="817199" y="0"/>
                      <a:pt x="829369" y="5041"/>
                      <a:pt x="838341" y="14013"/>
                    </a:cubicBezTo>
                    <a:cubicBezTo>
                      <a:pt x="847314" y="22986"/>
                      <a:pt x="852355" y="35155"/>
                      <a:pt x="852355" y="47845"/>
                    </a:cubicBezTo>
                    <a:lnTo>
                      <a:pt x="852355" y="1043688"/>
                    </a:lnTo>
                    <a:cubicBezTo>
                      <a:pt x="852355" y="1056378"/>
                      <a:pt x="847314" y="1068547"/>
                      <a:pt x="838341" y="1077520"/>
                    </a:cubicBezTo>
                    <a:cubicBezTo>
                      <a:pt x="829369" y="1086492"/>
                      <a:pt x="817199" y="1091533"/>
                      <a:pt x="804510" y="1091533"/>
                    </a:cubicBezTo>
                    <a:lnTo>
                      <a:pt x="47845" y="1091533"/>
                    </a:lnTo>
                    <a:cubicBezTo>
                      <a:pt x="35155" y="1091533"/>
                      <a:pt x="22986" y="1086492"/>
                      <a:pt x="14013" y="1077520"/>
                    </a:cubicBezTo>
                    <a:cubicBezTo>
                      <a:pt x="5041" y="1068547"/>
                      <a:pt x="0" y="1056378"/>
                      <a:pt x="0" y="1043688"/>
                    </a:cubicBezTo>
                    <a:lnTo>
                      <a:pt x="0" y="47845"/>
                    </a:lnTo>
                    <a:cubicBezTo>
                      <a:pt x="0" y="35155"/>
                      <a:pt x="5041" y="22986"/>
                      <a:pt x="14013" y="14013"/>
                    </a:cubicBezTo>
                    <a:cubicBezTo>
                      <a:pt x="22986" y="5041"/>
                      <a:pt x="35155" y="0"/>
                      <a:pt x="47845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2" name="TextBox 8">
                <a:extLst>
                  <a:ext uri="{FF2B5EF4-FFF2-40B4-BE49-F238E27FC236}">
                    <a16:creationId xmlns:a16="http://schemas.microsoft.com/office/drawing/2014/main" id="{4A52438C-BE81-A518-FE5C-B1E6A6FE976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52355" cy="11296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1"/>
                  </a:lnSpc>
                </a:pPr>
                <a:endParaRPr/>
              </a:p>
            </p:txBody>
          </p:sp>
        </p:grpSp>
        <p:sp>
          <p:nvSpPr>
            <p:cNvPr id="69" name="TextBox 10">
              <a:extLst>
                <a:ext uri="{FF2B5EF4-FFF2-40B4-BE49-F238E27FC236}">
                  <a16:creationId xmlns:a16="http://schemas.microsoft.com/office/drawing/2014/main" id="{CDA3641F-0CC0-0046-20E6-E7330CF03B6E}"/>
                </a:ext>
              </a:extLst>
            </p:cNvPr>
            <p:cNvSpPr txBox="1"/>
            <p:nvPr/>
          </p:nvSpPr>
          <p:spPr>
            <a:xfrm>
              <a:off x="332077" y="533131"/>
              <a:ext cx="3637094" cy="324135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imdbId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is likely the unique identifier for each movie, as assigned by the Internet Movie Database (IMDb.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title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The title of each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releaseYear</a:t>
              </a: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and </a:t>
              </a: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releaseDate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These fields provide information about when each movie was released.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genre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column describes the genre or genres of each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writers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field probably lists the writer or writers of each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actor_id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A unique identifier for the actor or actors in the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actors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field lists the names of the main actors in the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director_id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A unique identifier for the director of the movie.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directors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field lists the name of the movie's director.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sequel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field indicates whether the movie is a sequel or not.</a:t>
              </a:r>
            </a:p>
            <a:p>
              <a:pPr marL="285750" indent="-285750">
                <a:lnSpc>
                  <a:spcPts val="2100"/>
                </a:lnSpc>
                <a:buFont typeface="Wingdings" pitchFamily="2" charset="2"/>
                <a:buChar char="Ø"/>
              </a:pPr>
              <a:r>
                <a:rPr lang="en-US" sz="1600" b="1" dirty="0" err="1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hitFlop</a:t>
              </a:r>
              <a:r>
                <a:rPr lang="en-US" sz="1600" dirty="0">
                  <a:solidFill>
                    <a:srgbClr val="010F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This could be a categorical variable indicating the success or failure of the movie.</a:t>
              </a:r>
            </a:p>
            <a:p>
              <a:pPr algn="ctr">
                <a:lnSpc>
                  <a:spcPts val="2100"/>
                </a:lnSpc>
              </a:pPr>
              <a:endParaRPr lang="en-US" sz="1200" dirty="0">
                <a:solidFill>
                  <a:srgbClr val="010F1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70" name="TextBox 11">
              <a:extLst>
                <a:ext uri="{FF2B5EF4-FFF2-40B4-BE49-F238E27FC236}">
                  <a16:creationId xmlns:a16="http://schemas.microsoft.com/office/drawing/2014/main" id="{5E6FE32E-C93C-E5EF-DAC3-224BC3A99E1E}"/>
                </a:ext>
              </a:extLst>
            </p:cNvPr>
            <p:cNvSpPr txBox="1"/>
            <p:nvPr/>
          </p:nvSpPr>
          <p:spPr>
            <a:xfrm>
              <a:off x="420700" y="261349"/>
              <a:ext cx="3595854" cy="2882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010F1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Attribute Description</a:t>
              </a:r>
            </a:p>
          </p:txBody>
        </p:sp>
      </p:grpSp>
      <p:sp>
        <p:nvSpPr>
          <p:cNvPr id="79" name="TextBox 11">
            <a:extLst>
              <a:ext uri="{FF2B5EF4-FFF2-40B4-BE49-F238E27FC236}">
                <a16:creationId xmlns:a16="http://schemas.microsoft.com/office/drawing/2014/main" id="{D3523ED4-46F2-2F07-5291-76E355275F60}"/>
              </a:ext>
            </a:extLst>
          </p:cNvPr>
          <p:cNvSpPr txBox="1"/>
          <p:nvPr/>
        </p:nvSpPr>
        <p:spPr>
          <a:xfrm>
            <a:off x="1157918" y="1997881"/>
            <a:ext cx="12569713" cy="332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BollyWood</a:t>
            </a:r>
            <a:r>
              <a:rPr lang="en-US" sz="2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Movie Details Data: </a:t>
            </a:r>
            <a:r>
              <a:rPr lang="en-US" sz="1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This dataset appears to contain information related to different aspects of movies</a:t>
            </a:r>
          </a:p>
        </p:txBody>
      </p:sp>
    </p:spTree>
    <p:extLst>
      <p:ext uri="{BB962C8B-B14F-4D97-AF65-F5344CB8AC3E}">
        <p14:creationId xmlns:p14="http://schemas.microsoft.com/office/powerpoint/2010/main" val="2188837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BD16A-64EA-C9EB-D389-F85F6278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6DB3B11-8FB5-FE68-9D0C-030E88A27879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71FA065F-97AA-1788-E22C-C54BCC0C7E3A}"/>
              </a:ext>
            </a:extLst>
          </p:cNvPr>
          <p:cNvSpPr txBox="1"/>
          <p:nvPr/>
        </p:nvSpPr>
        <p:spPr>
          <a:xfrm>
            <a:off x="3642799" y="4278408"/>
            <a:ext cx="11002403" cy="510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IN" sz="32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ADVANCED SQL FUNCTIONS </a:t>
            </a:r>
            <a:endParaRPr lang="en-US" sz="3200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CA510052-3A08-0139-0457-2E1D60B09C42}"/>
              </a:ext>
            </a:extLst>
          </p:cNvPr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90B89107-12AF-9C2B-96C9-6961456F2981}"/>
              </a:ext>
            </a:extLst>
          </p:cNvPr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36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642799" y="1831657"/>
            <a:ext cx="11002403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PROJECT LINK</a:t>
            </a:r>
          </a:p>
        </p:txBody>
      </p:sp>
      <p:sp>
        <p:nvSpPr>
          <p:cNvPr id="4" name="Freeform 4"/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3642799" y="4245480"/>
            <a:ext cx="11002403" cy="299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1785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https://github.com/Prashasti9/PES-PDS_EDA-Group05_Project.git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3727632" y="5538868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3"/>
                </a:lnTo>
                <a:lnTo>
                  <a:pt x="0" y="491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10800000">
            <a:off x="-116335" y="-82396"/>
            <a:ext cx="4697437" cy="4913254"/>
          </a:xfrm>
          <a:custGeom>
            <a:avLst/>
            <a:gdLst/>
            <a:ahLst/>
            <a:cxnLst/>
            <a:rect l="l" t="t" r="r" b="b"/>
            <a:pathLst>
              <a:path w="4697437" h="4913254">
                <a:moveTo>
                  <a:pt x="0" y="0"/>
                </a:moveTo>
                <a:lnTo>
                  <a:pt x="4697437" y="0"/>
                </a:lnTo>
                <a:lnTo>
                  <a:pt x="4697437" y="4913254"/>
                </a:lnTo>
                <a:lnTo>
                  <a:pt x="0" y="491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3443348" y="4427950"/>
            <a:ext cx="11401303" cy="805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80"/>
              </a:lnSpc>
            </a:pPr>
            <a:r>
              <a:rPr lang="en-US" sz="6000" b="1" spc="22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1637</Words>
  <Application>Microsoft Macintosh PowerPoint</Application>
  <PresentationFormat>Custom</PresentationFormat>
  <Paragraphs>194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Bogle</vt:lpstr>
      <vt:lpstr>Calibri</vt:lpstr>
      <vt:lpstr>Wingdings</vt:lpstr>
      <vt:lpstr>Montserrat Bold</vt:lpstr>
      <vt:lpstr>Montserrat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Futuristic Business Presentation</dc:title>
  <dc:creator>Prashasti</dc:creator>
  <cp:lastModifiedBy>Uttam Nandy</cp:lastModifiedBy>
  <cp:revision>17</cp:revision>
  <dcterms:created xsi:type="dcterms:W3CDTF">2006-08-16T00:00:00Z</dcterms:created>
  <dcterms:modified xsi:type="dcterms:W3CDTF">2025-05-01T19:04:37Z</dcterms:modified>
  <dc:identifier>DAGkLIsb4GM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24820e8-223f-4ed2-bd95-81c83f641284_Enabled">
    <vt:lpwstr>true</vt:lpwstr>
  </property>
  <property fmtid="{D5CDD505-2E9C-101B-9397-08002B2CF9AE}" pid="3" name="MSIP_Label_b24820e8-223f-4ed2-bd95-81c83f641284_SetDate">
    <vt:lpwstr>2025-05-01T15:37:22Z</vt:lpwstr>
  </property>
  <property fmtid="{D5CDD505-2E9C-101B-9397-08002B2CF9AE}" pid="4" name="MSIP_Label_b24820e8-223f-4ed2-bd95-81c83f641284_Method">
    <vt:lpwstr>Standard</vt:lpwstr>
  </property>
  <property fmtid="{D5CDD505-2E9C-101B-9397-08002B2CF9AE}" pid="5" name="MSIP_Label_b24820e8-223f-4ed2-bd95-81c83f641284_Name">
    <vt:lpwstr>b24820e8-223f-4ed2-bd95-81c83f641284</vt:lpwstr>
  </property>
  <property fmtid="{D5CDD505-2E9C-101B-9397-08002B2CF9AE}" pid="6" name="MSIP_Label_b24820e8-223f-4ed2-bd95-81c83f641284_SiteId">
    <vt:lpwstr>3cbcc3d3-094d-4006-9849-0d11d61f484d</vt:lpwstr>
  </property>
  <property fmtid="{D5CDD505-2E9C-101B-9397-08002B2CF9AE}" pid="7" name="MSIP_Label_b24820e8-223f-4ed2-bd95-81c83f641284_ActionId">
    <vt:lpwstr>513c0cc5-e713-478e-bb89-af891e65c77a</vt:lpwstr>
  </property>
  <property fmtid="{D5CDD505-2E9C-101B-9397-08002B2CF9AE}" pid="8" name="MSIP_Label_b24820e8-223f-4ed2-bd95-81c83f641284_ContentBits">
    <vt:lpwstr>0</vt:lpwstr>
  </property>
  <property fmtid="{D5CDD505-2E9C-101B-9397-08002B2CF9AE}" pid="9" name="MSIP_Label_b24820e8-223f-4ed2-bd95-81c83f641284_Tag">
    <vt:lpwstr>50, 3, 0, 1</vt:lpwstr>
  </property>
</Properties>
</file>